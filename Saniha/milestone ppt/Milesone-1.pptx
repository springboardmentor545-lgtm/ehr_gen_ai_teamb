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ios Extended Bold" charset="1" panose="02000805050000020004"/>
      <p:regular r:id="rId16"/>
    </p:embeddedFont>
    <p:embeddedFont>
      <p:font typeface="Montserrat Medium" charset="1" panose="00000600000000000000"/>
      <p:regular r:id="rId17"/>
    </p:embeddedFont>
    <p:embeddedFont>
      <p:font typeface="Montserrat" charset="1" panose="00000500000000000000"/>
      <p:regular r:id="rId18"/>
    </p:embeddedFont>
    <p:embeddedFont>
      <p:font typeface="Iffat" charset="1" panose="00000000000000000000"/>
      <p:regular r:id="rId19"/>
    </p:embeddedFont>
    <p:embeddedFont>
      <p:font typeface="DM Sans" charset="1" panose="00000000000000000000"/>
      <p:regular r:id="rId20"/>
    </p:embeddedFont>
    <p:embeddedFont>
      <p:font typeface="DM Sans Bold" charset="1" panose="00000000000000000000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896138" y="537624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1" y="0"/>
                </a:lnTo>
                <a:lnTo>
                  <a:pt x="1604331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212469" y="8819296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1" y="0"/>
                </a:lnTo>
                <a:lnTo>
                  <a:pt x="1604331" y="878008"/>
                </a:lnTo>
                <a:lnTo>
                  <a:pt x="0" y="8780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33618" y="3976717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0"/>
                </a:lnTo>
                <a:lnTo>
                  <a:pt x="0" y="55097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39737" y="1173245"/>
            <a:ext cx="13408526" cy="191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AI-Powered-Enhanced EHR Imaging &amp; Documentation System</a:t>
            </a:r>
          </a:p>
          <a:p>
            <a:pPr algn="ctr">
              <a:lnSpc>
                <a:spcPts val="50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47303"/>
            <a:ext cx="10919606" cy="30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2404" b="true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Team Name: TEAM-B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637043"/>
            <a:ext cx="11253274" cy="281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478" b="true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Team Members:   Pushpa Latha</a:t>
            </a:r>
          </a:p>
          <a:p>
            <a:pPr algn="l">
              <a:lnSpc>
                <a:spcPts val="2527"/>
              </a:lnSpc>
            </a:pPr>
            <a:r>
              <a:rPr lang="en-US" sz="2478" b="true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                        Nikshitha Naradasu</a:t>
            </a:r>
          </a:p>
          <a:p>
            <a:pPr algn="l">
              <a:lnSpc>
                <a:spcPts val="2527"/>
              </a:lnSpc>
            </a:pPr>
            <a:r>
              <a:rPr lang="en-US" sz="2478" b="true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                        Shaik Afreen Hasen</a:t>
            </a:r>
          </a:p>
          <a:p>
            <a:pPr algn="l">
              <a:lnSpc>
                <a:spcPts val="2527"/>
              </a:lnSpc>
            </a:pPr>
            <a:r>
              <a:rPr lang="en-US" sz="2478" b="true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                        Saniha Manjunath</a:t>
            </a:r>
          </a:p>
          <a:p>
            <a:pPr algn="l">
              <a:lnSpc>
                <a:spcPts val="2527"/>
              </a:lnSpc>
            </a:pPr>
            <a:r>
              <a:rPr lang="en-US" sz="2478" b="true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                        Gaurav Subhash Borse</a:t>
            </a:r>
          </a:p>
          <a:p>
            <a:pPr algn="l">
              <a:lnSpc>
                <a:spcPts val="2527"/>
              </a:lnSpc>
            </a:pPr>
            <a:r>
              <a:rPr lang="en-US" sz="2478" b="true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                        Tejasri Nakka</a:t>
            </a:r>
          </a:p>
          <a:p>
            <a:pPr algn="l">
              <a:lnSpc>
                <a:spcPts val="2527"/>
              </a:lnSpc>
            </a:pPr>
            <a:r>
              <a:rPr lang="en-US" sz="2478" b="true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                        DEEPANA</a:t>
            </a:r>
          </a:p>
          <a:p>
            <a:pPr algn="l">
              <a:lnSpc>
                <a:spcPts val="2527"/>
              </a:lnSpc>
            </a:pPr>
            <a:r>
              <a:rPr lang="en-US" sz="2478" b="true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                        Pranjali Jadhav</a:t>
            </a:r>
          </a:p>
          <a:p>
            <a:pPr algn="l">
              <a:lnSpc>
                <a:spcPts val="2527"/>
              </a:lnSpc>
            </a:pPr>
            <a:r>
              <a:rPr lang="en-US" sz="2478" b="true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                        Vignesh M J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414209"/>
            <a:ext cx="10919606" cy="107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"/>
              </a:lnSpc>
            </a:pPr>
            <a:r>
              <a:rPr lang="en-US" sz="2732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Milestone: 1</a:t>
            </a:r>
          </a:p>
          <a:p>
            <a:pPr algn="l">
              <a:lnSpc>
                <a:spcPts val="2787"/>
              </a:lnSpc>
            </a:pPr>
            <a:r>
              <a:rPr lang="en-US" sz="2732" b="true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Collection and Preprocessing</a:t>
            </a:r>
          </a:p>
          <a:p>
            <a:pPr algn="l">
              <a:lnSpc>
                <a:spcPts val="278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135004"/>
            <a:ext cx="10919606" cy="61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2404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Mentor name: Aryan Khurana</a:t>
            </a:r>
          </a:p>
          <a:p>
            <a:pPr algn="l">
              <a:lnSpc>
                <a:spcPts val="2452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457134" y="3902331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62062" y="1393188"/>
            <a:ext cx="10363876" cy="278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6"/>
              </a:lnSpc>
            </a:pPr>
            <a:r>
              <a:rPr lang="en-US" b="true" sz="7875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OBJECTIVE</a:t>
            </a:r>
          </a:p>
          <a:p>
            <a:pPr algn="ctr">
              <a:lnSpc>
                <a:spcPts val="11026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684600" y="3047897"/>
            <a:ext cx="2916436" cy="2691406"/>
            <a:chOff x="0" y="0"/>
            <a:chExt cx="768115" cy="7088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8115" cy="708848"/>
            </a:xfrm>
            <a:custGeom>
              <a:avLst/>
              <a:gdLst/>
              <a:ahLst/>
              <a:cxnLst/>
              <a:rect r="r" b="b" t="t" l="l"/>
              <a:pathLst>
                <a:path h="708848" w="768115">
                  <a:moveTo>
                    <a:pt x="103529" y="0"/>
                  </a:moveTo>
                  <a:lnTo>
                    <a:pt x="664586" y="0"/>
                  </a:lnTo>
                  <a:cubicBezTo>
                    <a:pt x="692044" y="0"/>
                    <a:pt x="718376" y="10907"/>
                    <a:pt x="737792" y="30323"/>
                  </a:cubicBezTo>
                  <a:cubicBezTo>
                    <a:pt x="757207" y="49738"/>
                    <a:pt x="768115" y="76071"/>
                    <a:pt x="768115" y="103529"/>
                  </a:cubicBezTo>
                  <a:lnTo>
                    <a:pt x="768115" y="605319"/>
                  </a:lnTo>
                  <a:cubicBezTo>
                    <a:pt x="768115" y="632777"/>
                    <a:pt x="757207" y="659110"/>
                    <a:pt x="737792" y="678525"/>
                  </a:cubicBezTo>
                  <a:cubicBezTo>
                    <a:pt x="718376" y="697940"/>
                    <a:pt x="692044" y="708848"/>
                    <a:pt x="664586" y="708848"/>
                  </a:cubicBezTo>
                  <a:lnTo>
                    <a:pt x="103529" y="708848"/>
                  </a:lnTo>
                  <a:cubicBezTo>
                    <a:pt x="76071" y="708848"/>
                    <a:pt x="49738" y="697940"/>
                    <a:pt x="30323" y="678525"/>
                  </a:cubicBezTo>
                  <a:cubicBezTo>
                    <a:pt x="10907" y="659110"/>
                    <a:pt x="0" y="632777"/>
                    <a:pt x="0" y="605319"/>
                  </a:cubicBezTo>
                  <a:lnTo>
                    <a:pt x="0" y="103529"/>
                  </a:lnTo>
                  <a:cubicBezTo>
                    <a:pt x="0" y="76071"/>
                    <a:pt x="10907" y="49738"/>
                    <a:pt x="30323" y="30323"/>
                  </a:cubicBezTo>
                  <a:cubicBezTo>
                    <a:pt x="49738" y="10907"/>
                    <a:pt x="76071" y="0"/>
                    <a:pt x="1035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62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768115" cy="794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000754" y="3326800"/>
            <a:ext cx="2284128" cy="2101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To systematically gather, preprocess, and standardize medical imaging and EHR data, ensuring readiness for AI model training.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204366" y="3047897"/>
            <a:ext cx="2314843" cy="2676822"/>
            <a:chOff x="0" y="0"/>
            <a:chExt cx="609670" cy="7050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670" cy="705007"/>
            </a:xfrm>
            <a:custGeom>
              <a:avLst/>
              <a:gdLst/>
              <a:ahLst/>
              <a:cxnLst/>
              <a:rect r="r" b="b" t="t" l="l"/>
              <a:pathLst>
                <a:path h="705007" w="609670">
                  <a:moveTo>
                    <a:pt x="130434" y="0"/>
                  </a:moveTo>
                  <a:lnTo>
                    <a:pt x="479236" y="0"/>
                  </a:lnTo>
                  <a:cubicBezTo>
                    <a:pt x="551273" y="0"/>
                    <a:pt x="609670" y="58397"/>
                    <a:pt x="609670" y="130434"/>
                  </a:cubicBezTo>
                  <a:lnTo>
                    <a:pt x="609670" y="574572"/>
                  </a:lnTo>
                  <a:cubicBezTo>
                    <a:pt x="609670" y="609166"/>
                    <a:pt x="595928" y="642342"/>
                    <a:pt x="571467" y="666803"/>
                  </a:cubicBezTo>
                  <a:cubicBezTo>
                    <a:pt x="547006" y="691264"/>
                    <a:pt x="513830" y="705007"/>
                    <a:pt x="479236" y="705007"/>
                  </a:cubicBezTo>
                  <a:lnTo>
                    <a:pt x="130434" y="705007"/>
                  </a:lnTo>
                  <a:cubicBezTo>
                    <a:pt x="95841" y="705007"/>
                    <a:pt x="62665" y="691264"/>
                    <a:pt x="38203" y="666803"/>
                  </a:cubicBezTo>
                  <a:cubicBezTo>
                    <a:pt x="13742" y="642342"/>
                    <a:pt x="0" y="609166"/>
                    <a:pt x="0" y="574572"/>
                  </a:cubicBezTo>
                  <a:lnTo>
                    <a:pt x="0" y="130434"/>
                  </a:lnTo>
                  <a:cubicBezTo>
                    <a:pt x="0" y="95841"/>
                    <a:pt x="13742" y="62665"/>
                    <a:pt x="38203" y="38203"/>
                  </a:cubicBezTo>
                  <a:cubicBezTo>
                    <a:pt x="62665" y="13742"/>
                    <a:pt x="95841" y="0"/>
                    <a:pt x="130434" y="0"/>
                  </a:cubicBezTo>
                  <a:close/>
                </a:path>
              </a:pathLst>
            </a:custGeom>
            <a:solidFill>
              <a:srgbClr val="02626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609670" cy="790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683318" y="4026106"/>
            <a:ext cx="1531541" cy="111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138" b="true">
                <a:solidFill>
                  <a:srgbClr val="DEDEDE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Primary Goal</a:t>
            </a:r>
          </a:p>
          <a:p>
            <a:pPr algn="ctr">
              <a:lnSpc>
                <a:spcPts val="2994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2001807" y="3047897"/>
            <a:ext cx="2916436" cy="2691406"/>
            <a:chOff x="0" y="0"/>
            <a:chExt cx="768115" cy="7088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115" cy="708848"/>
            </a:xfrm>
            <a:custGeom>
              <a:avLst/>
              <a:gdLst/>
              <a:ahLst/>
              <a:cxnLst/>
              <a:rect r="r" b="b" t="t" l="l"/>
              <a:pathLst>
                <a:path h="708848" w="768115">
                  <a:moveTo>
                    <a:pt x="103529" y="0"/>
                  </a:moveTo>
                  <a:lnTo>
                    <a:pt x="664586" y="0"/>
                  </a:lnTo>
                  <a:cubicBezTo>
                    <a:pt x="692044" y="0"/>
                    <a:pt x="718376" y="10907"/>
                    <a:pt x="737792" y="30323"/>
                  </a:cubicBezTo>
                  <a:cubicBezTo>
                    <a:pt x="757207" y="49738"/>
                    <a:pt x="768115" y="76071"/>
                    <a:pt x="768115" y="103529"/>
                  </a:cubicBezTo>
                  <a:lnTo>
                    <a:pt x="768115" y="605319"/>
                  </a:lnTo>
                  <a:cubicBezTo>
                    <a:pt x="768115" y="632777"/>
                    <a:pt x="757207" y="659110"/>
                    <a:pt x="737792" y="678525"/>
                  </a:cubicBezTo>
                  <a:cubicBezTo>
                    <a:pt x="718376" y="697940"/>
                    <a:pt x="692044" y="708848"/>
                    <a:pt x="664586" y="708848"/>
                  </a:cubicBezTo>
                  <a:lnTo>
                    <a:pt x="103529" y="708848"/>
                  </a:lnTo>
                  <a:cubicBezTo>
                    <a:pt x="76071" y="708848"/>
                    <a:pt x="49738" y="697940"/>
                    <a:pt x="30323" y="678525"/>
                  </a:cubicBezTo>
                  <a:cubicBezTo>
                    <a:pt x="10907" y="659110"/>
                    <a:pt x="0" y="632777"/>
                    <a:pt x="0" y="605319"/>
                  </a:cubicBezTo>
                  <a:lnTo>
                    <a:pt x="0" y="103529"/>
                  </a:lnTo>
                  <a:cubicBezTo>
                    <a:pt x="0" y="76071"/>
                    <a:pt x="10907" y="49738"/>
                    <a:pt x="30323" y="30323"/>
                  </a:cubicBezTo>
                  <a:cubicBezTo>
                    <a:pt x="49738" y="10907"/>
                    <a:pt x="76071" y="0"/>
                    <a:pt x="1035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6263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768115" cy="794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317961" y="3326800"/>
            <a:ext cx="2284128" cy="2101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Focus on acquiring diverse datasets, including MRI, CT, and X-ray images, to enhance the robustness of our AI models.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52942" y="3062481"/>
            <a:ext cx="2314843" cy="2676822"/>
            <a:chOff x="0" y="0"/>
            <a:chExt cx="609670" cy="7050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70" cy="705007"/>
            </a:xfrm>
            <a:custGeom>
              <a:avLst/>
              <a:gdLst/>
              <a:ahLst/>
              <a:cxnLst/>
              <a:rect r="r" b="b" t="t" l="l"/>
              <a:pathLst>
                <a:path h="705007" w="609670">
                  <a:moveTo>
                    <a:pt x="130434" y="0"/>
                  </a:moveTo>
                  <a:lnTo>
                    <a:pt x="479236" y="0"/>
                  </a:lnTo>
                  <a:cubicBezTo>
                    <a:pt x="551273" y="0"/>
                    <a:pt x="609670" y="58397"/>
                    <a:pt x="609670" y="130434"/>
                  </a:cubicBezTo>
                  <a:lnTo>
                    <a:pt x="609670" y="574572"/>
                  </a:lnTo>
                  <a:cubicBezTo>
                    <a:pt x="609670" y="609166"/>
                    <a:pt x="595928" y="642342"/>
                    <a:pt x="571467" y="666803"/>
                  </a:cubicBezTo>
                  <a:cubicBezTo>
                    <a:pt x="547006" y="691264"/>
                    <a:pt x="513830" y="705007"/>
                    <a:pt x="479236" y="705007"/>
                  </a:cubicBezTo>
                  <a:lnTo>
                    <a:pt x="130434" y="705007"/>
                  </a:lnTo>
                  <a:cubicBezTo>
                    <a:pt x="95841" y="705007"/>
                    <a:pt x="62665" y="691264"/>
                    <a:pt x="38203" y="666803"/>
                  </a:cubicBezTo>
                  <a:cubicBezTo>
                    <a:pt x="13742" y="642342"/>
                    <a:pt x="0" y="609166"/>
                    <a:pt x="0" y="574572"/>
                  </a:cubicBezTo>
                  <a:lnTo>
                    <a:pt x="0" y="130434"/>
                  </a:lnTo>
                  <a:cubicBezTo>
                    <a:pt x="0" y="95841"/>
                    <a:pt x="13742" y="62665"/>
                    <a:pt x="38203" y="38203"/>
                  </a:cubicBezTo>
                  <a:cubicBezTo>
                    <a:pt x="62665" y="13742"/>
                    <a:pt x="95841" y="0"/>
                    <a:pt x="130434" y="0"/>
                  </a:cubicBezTo>
                  <a:close/>
                </a:path>
              </a:pathLst>
            </a:custGeom>
            <a:solidFill>
              <a:srgbClr val="026263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609670" cy="790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814326" y="3812318"/>
            <a:ext cx="1846797" cy="108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5"/>
              </a:lnSpc>
            </a:pPr>
            <a:r>
              <a:rPr lang="en-US" sz="2046" b="true">
                <a:solidFill>
                  <a:srgbClr val="DEDEDE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Data Collection</a:t>
            </a:r>
          </a:p>
          <a:p>
            <a:pPr algn="ctr">
              <a:lnSpc>
                <a:spcPts val="2865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5684600" y="6011905"/>
            <a:ext cx="2916436" cy="2691406"/>
            <a:chOff x="0" y="0"/>
            <a:chExt cx="768115" cy="7088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115" cy="708848"/>
            </a:xfrm>
            <a:custGeom>
              <a:avLst/>
              <a:gdLst/>
              <a:ahLst/>
              <a:cxnLst/>
              <a:rect r="r" b="b" t="t" l="l"/>
              <a:pathLst>
                <a:path h="708848" w="768115">
                  <a:moveTo>
                    <a:pt x="103529" y="0"/>
                  </a:moveTo>
                  <a:lnTo>
                    <a:pt x="664586" y="0"/>
                  </a:lnTo>
                  <a:cubicBezTo>
                    <a:pt x="692044" y="0"/>
                    <a:pt x="718376" y="10907"/>
                    <a:pt x="737792" y="30323"/>
                  </a:cubicBezTo>
                  <a:cubicBezTo>
                    <a:pt x="757207" y="49738"/>
                    <a:pt x="768115" y="76071"/>
                    <a:pt x="768115" y="103529"/>
                  </a:cubicBezTo>
                  <a:lnTo>
                    <a:pt x="768115" y="605319"/>
                  </a:lnTo>
                  <a:cubicBezTo>
                    <a:pt x="768115" y="632777"/>
                    <a:pt x="757207" y="659110"/>
                    <a:pt x="737792" y="678525"/>
                  </a:cubicBezTo>
                  <a:cubicBezTo>
                    <a:pt x="718376" y="697940"/>
                    <a:pt x="692044" y="708848"/>
                    <a:pt x="664586" y="708848"/>
                  </a:cubicBezTo>
                  <a:lnTo>
                    <a:pt x="103529" y="708848"/>
                  </a:lnTo>
                  <a:cubicBezTo>
                    <a:pt x="76071" y="708848"/>
                    <a:pt x="49738" y="697940"/>
                    <a:pt x="30323" y="678525"/>
                  </a:cubicBezTo>
                  <a:cubicBezTo>
                    <a:pt x="10907" y="659110"/>
                    <a:pt x="0" y="632777"/>
                    <a:pt x="0" y="605319"/>
                  </a:cubicBezTo>
                  <a:lnTo>
                    <a:pt x="0" y="103529"/>
                  </a:lnTo>
                  <a:cubicBezTo>
                    <a:pt x="0" y="76071"/>
                    <a:pt x="10907" y="49738"/>
                    <a:pt x="30323" y="30323"/>
                  </a:cubicBezTo>
                  <a:cubicBezTo>
                    <a:pt x="49738" y="10907"/>
                    <a:pt x="76071" y="0"/>
                    <a:pt x="1035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6263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768115" cy="794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000754" y="6290809"/>
            <a:ext cx="2284128" cy="2101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Collect and clean both structured and unstructured EHR data, ensuring high-quality input for AI applications.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204366" y="6026490"/>
            <a:ext cx="2314843" cy="2676822"/>
            <a:chOff x="0" y="0"/>
            <a:chExt cx="609670" cy="7050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70" cy="705007"/>
            </a:xfrm>
            <a:custGeom>
              <a:avLst/>
              <a:gdLst/>
              <a:ahLst/>
              <a:cxnLst/>
              <a:rect r="r" b="b" t="t" l="l"/>
              <a:pathLst>
                <a:path h="705007" w="609670">
                  <a:moveTo>
                    <a:pt x="130434" y="0"/>
                  </a:moveTo>
                  <a:lnTo>
                    <a:pt x="479236" y="0"/>
                  </a:lnTo>
                  <a:cubicBezTo>
                    <a:pt x="551273" y="0"/>
                    <a:pt x="609670" y="58397"/>
                    <a:pt x="609670" y="130434"/>
                  </a:cubicBezTo>
                  <a:lnTo>
                    <a:pt x="609670" y="574572"/>
                  </a:lnTo>
                  <a:cubicBezTo>
                    <a:pt x="609670" y="609166"/>
                    <a:pt x="595928" y="642342"/>
                    <a:pt x="571467" y="666803"/>
                  </a:cubicBezTo>
                  <a:cubicBezTo>
                    <a:pt x="547006" y="691264"/>
                    <a:pt x="513830" y="705007"/>
                    <a:pt x="479236" y="705007"/>
                  </a:cubicBezTo>
                  <a:lnTo>
                    <a:pt x="130434" y="705007"/>
                  </a:lnTo>
                  <a:cubicBezTo>
                    <a:pt x="95841" y="705007"/>
                    <a:pt x="62665" y="691264"/>
                    <a:pt x="38203" y="666803"/>
                  </a:cubicBezTo>
                  <a:cubicBezTo>
                    <a:pt x="13742" y="642342"/>
                    <a:pt x="0" y="609166"/>
                    <a:pt x="0" y="574572"/>
                  </a:cubicBezTo>
                  <a:lnTo>
                    <a:pt x="0" y="130434"/>
                  </a:lnTo>
                  <a:cubicBezTo>
                    <a:pt x="0" y="95841"/>
                    <a:pt x="13742" y="62665"/>
                    <a:pt x="38203" y="38203"/>
                  </a:cubicBezTo>
                  <a:cubicBezTo>
                    <a:pt x="62665" y="13742"/>
                    <a:pt x="95841" y="0"/>
                    <a:pt x="130434" y="0"/>
                  </a:cubicBezTo>
                  <a:close/>
                </a:path>
              </a:pathLst>
            </a:custGeom>
            <a:solidFill>
              <a:srgbClr val="026263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609670" cy="790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443842" y="6922259"/>
            <a:ext cx="1835891" cy="89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 b="true">
                <a:solidFill>
                  <a:srgbClr val="DEDEDE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EHR Data Management</a:t>
            </a:r>
          </a:p>
          <a:p>
            <a:pPr algn="ctr">
              <a:lnSpc>
                <a:spcPts val="2379"/>
              </a:lnSpc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12001807" y="6011905"/>
            <a:ext cx="2916436" cy="2691406"/>
            <a:chOff x="0" y="0"/>
            <a:chExt cx="768115" cy="7088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115" cy="708848"/>
            </a:xfrm>
            <a:custGeom>
              <a:avLst/>
              <a:gdLst/>
              <a:ahLst/>
              <a:cxnLst/>
              <a:rect r="r" b="b" t="t" l="l"/>
              <a:pathLst>
                <a:path h="708848" w="768115">
                  <a:moveTo>
                    <a:pt x="103529" y="0"/>
                  </a:moveTo>
                  <a:lnTo>
                    <a:pt x="664586" y="0"/>
                  </a:lnTo>
                  <a:cubicBezTo>
                    <a:pt x="692044" y="0"/>
                    <a:pt x="718376" y="10907"/>
                    <a:pt x="737792" y="30323"/>
                  </a:cubicBezTo>
                  <a:cubicBezTo>
                    <a:pt x="757207" y="49738"/>
                    <a:pt x="768115" y="76071"/>
                    <a:pt x="768115" y="103529"/>
                  </a:cubicBezTo>
                  <a:lnTo>
                    <a:pt x="768115" y="605319"/>
                  </a:lnTo>
                  <a:cubicBezTo>
                    <a:pt x="768115" y="632777"/>
                    <a:pt x="757207" y="659110"/>
                    <a:pt x="737792" y="678525"/>
                  </a:cubicBezTo>
                  <a:cubicBezTo>
                    <a:pt x="718376" y="697940"/>
                    <a:pt x="692044" y="708848"/>
                    <a:pt x="664586" y="708848"/>
                  </a:cubicBezTo>
                  <a:lnTo>
                    <a:pt x="103529" y="708848"/>
                  </a:lnTo>
                  <a:cubicBezTo>
                    <a:pt x="76071" y="708848"/>
                    <a:pt x="49738" y="697940"/>
                    <a:pt x="30323" y="678525"/>
                  </a:cubicBezTo>
                  <a:cubicBezTo>
                    <a:pt x="10907" y="659110"/>
                    <a:pt x="0" y="632777"/>
                    <a:pt x="0" y="605319"/>
                  </a:cubicBezTo>
                  <a:lnTo>
                    <a:pt x="0" y="103529"/>
                  </a:lnTo>
                  <a:cubicBezTo>
                    <a:pt x="0" y="76071"/>
                    <a:pt x="10907" y="49738"/>
                    <a:pt x="30323" y="30323"/>
                  </a:cubicBezTo>
                  <a:cubicBezTo>
                    <a:pt x="49738" y="10907"/>
                    <a:pt x="76071" y="0"/>
                    <a:pt x="1035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6263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768115" cy="794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317961" y="6290809"/>
            <a:ext cx="2284128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Develop a comprehensive, labeled dataset that integrates imaging and EHR data, primed for Generative AI model training.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452942" y="6052796"/>
            <a:ext cx="2314843" cy="2676822"/>
            <a:chOff x="0" y="0"/>
            <a:chExt cx="609670" cy="7050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9670" cy="705007"/>
            </a:xfrm>
            <a:custGeom>
              <a:avLst/>
              <a:gdLst/>
              <a:ahLst/>
              <a:cxnLst/>
              <a:rect r="r" b="b" t="t" l="l"/>
              <a:pathLst>
                <a:path h="705007" w="609670">
                  <a:moveTo>
                    <a:pt x="130434" y="0"/>
                  </a:moveTo>
                  <a:lnTo>
                    <a:pt x="479236" y="0"/>
                  </a:lnTo>
                  <a:cubicBezTo>
                    <a:pt x="551273" y="0"/>
                    <a:pt x="609670" y="58397"/>
                    <a:pt x="609670" y="130434"/>
                  </a:cubicBezTo>
                  <a:lnTo>
                    <a:pt x="609670" y="574572"/>
                  </a:lnTo>
                  <a:cubicBezTo>
                    <a:pt x="609670" y="609166"/>
                    <a:pt x="595928" y="642342"/>
                    <a:pt x="571467" y="666803"/>
                  </a:cubicBezTo>
                  <a:cubicBezTo>
                    <a:pt x="547006" y="691264"/>
                    <a:pt x="513830" y="705007"/>
                    <a:pt x="479236" y="705007"/>
                  </a:cubicBezTo>
                  <a:lnTo>
                    <a:pt x="130434" y="705007"/>
                  </a:lnTo>
                  <a:cubicBezTo>
                    <a:pt x="95841" y="705007"/>
                    <a:pt x="62665" y="691264"/>
                    <a:pt x="38203" y="666803"/>
                  </a:cubicBezTo>
                  <a:cubicBezTo>
                    <a:pt x="13742" y="642342"/>
                    <a:pt x="0" y="609166"/>
                    <a:pt x="0" y="574572"/>
                  </a:cubicBezTo>
                  <a:lnTo>
                    <a:pt x="0" y="130434"/>
                  </a:lnTo>
                  <a:cubicBezTo>
                    <a:pt x="0" y="95841"/>
                    <a:pt x="13742" y="62665"/>
                    <a:pt x="38203" y="38203"/>
                  </a:cubicBezTo>
                  <a:cubicBezTo>
                    <a:pt x="62665" y="13742"/>
                    <a:pt x="95841" y="0"/>
                    <a:pt x="130434" y="0"/>
                  </a:cubicBezTo>
                  <a:close/>
                </a:path>
              </a:pathLst>
            </a:custGeom>
            <a:solidFill>
              <a:srgbClr val="026263"/>
            </a:solidFill>
            <a:ln cap="rnd">
              <a:noFill/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609670" cy="790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814326" y="6645416"/>
            <a:ext cx="1740136" cy="135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928" b="true">
                <a:solidFill>
                  <a:srgbClr val="DEDEDE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Unified Dataset Creation</a:t>
            </a:r>
          </a:p>
          <a:p>
            <a:pPr algn="ctr">
              <a:lnSpc>
                <a:spcPts val="270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9227975"/>
            <a:ext cx="2933362" cy="37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>
                <a:solidFill>
                  <a:srgbClr val="026263"/>
                </a:solidFill>
                <a:latin typeface="DM Sans"/>
                <a:ea typeface="DM Sans"/>
                <a:cs typeface="DM Sans"/>
                <a:sym typeface="DM Sans"/>
              </a:rPr>
              <a:t>Presentation I </a:t>
            </a:r>
            <a:r>
              <a:rPr lang="en-US" sz="2280" b="true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AutoShape 41" id="41"/>
          <p:cNvSpPr/>
          <p:nvPr/>
        </p:nvSpPr>
        <p:spPr>
          <a:xfrm>
            <a:off x="3683318" y="9455470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457134" y="1635261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226534" y="7790003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07765" y="552886"/>
            <a:ext cx="9018612" cy="3788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2"/>
              </a:lnSpc>
            </a:pPr>
            <a:r>
              <a:rPr lang="en-US" b="true" sz="7073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PROBLEM STATEMENT</a:t>
            </a:r>
          </a:p>
          <a:p>
            <a:pPr algn="ctr">
              <a:lnSpc>
                <a:spcPts val="990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48202" y="4265134"/>
            <a:ext cx="15791596" cy="258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27"/>
              </a:lnSpc>
            </a:pPr>
            <a:r>
              <a:rPr lang="en-US" sz="3662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The current healthcare workflow involves time-consuming analysis, manual interpretation of medical data, and repetitive documentation tasks. This leads to delays and human errors. There is a growing need for automation to streamline clinical processes and improve efficiency in diagnosis and reporting.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227975"/>
            <a:ext cx="2933362" cy="37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>
                <a:solidFill>
                  <a:srgbClr val="026263"/>
                </a:solidFill>
                <a:latin typeface="DM Sans"/>
                <a:ea typeface="DM Sans"/>
                <a:cs typeface="DM Sans"/>
                <a:sym typeface="DM Sans"/>
              </a:rPr>
              <a:t>Presentation I </a:t>
            </a:r>
            <a:r>
              <a:rPr lang="en-US" sz="2280" b="true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AutoShape 11" id="11"/>
          <p:cNvSpPr/>
          <p:nvPr/>
        </p:nvSpPr>
        <p:spPr>
          <a:xfrm>
            <a:off x="3683318" y="9455470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457134" y="3902331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67134" y="154846"/>
            <a:ext cx="10363876" cy="219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b="true" sz="4099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PROPOSED SOLUTION / ARCHITECTURE OVERVIEW</a:t>
            </a:r>
          </a:p>
          <a:p>
            <a:pPr algn="ctr">
              <a:lnSpc>
                <a:spcPts val="573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5195588" y="2013944"/>
            <a:ext cx="10573431" cy="2096094"/>
            <a:chOff x="0" y="0"/>
            <a:chExt cx="2784772" cy="5520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84772" cy="552058"/>
            </a:xfrm>
            <a:custGeom>
              <a:avLst/>
              <a:gdLst/>
              <a:ahLst/>
              <a:cxnLst/>
              <a:rect r="r" b="b" t="t" l="l"/>
              <a:pathLst>
                <a:path h="552058" w="2784772">
                  <a:moveTo>
                    <a:pt x="28556" y="0"/>
                  </a:moveTo>
                  <a:lnTo>
                    <a:pt x="2756216" y="0"/>
                  </a:lnTo>
                  <a:cubicBezTo>
                    <a:pt x="2771987" y="0"/>
                    <a:pt x="2784772" y="12785"/>
                    <a:pt x="2784772" y="28556"/>
                  </a:cubicBezTo>
                  <a:lnTo>
                    <a:pt x="2784772" y="523502"/>
                  </a:lnTo>
                  <a:cubicBezTo>
                    <a:pt x="2784772" y="531075"/>
                    <a:pt x="2781763" y="538339"/>
                    <a:pt x="2776408" y="543694"/>
                  </a:cubicBezTo>
                  <a:cubicBezTo>
                    <a:pt x="2771053" y="549049"/>
                    <a:pt x="2763789" y="552058"/>
                    <a:pt x="2756216" y="552058"/>
                  </a:cubicBezTo>
                  <a:lnTo>
                    <a:pt x="28556" y="552058"/>
                  </a:lnTo>
                  <a:cubicBezTo>
                    <a:pt x="20982" y="552058"/>
                    <a:pt x="13719" y="549049"/>
                    <a:pt x="8364" y="543694"/>
                  </a:cubicBezTo>
                  <a:cubicBezTo>
                    <a:pt x="3009" y="538339"/>
                    <a:pt x="0" y="531075"/>
                    <a:pt x="0" y="523502"/>
                  </a:cubicBezTo>
                  <a:lnTo>
                    <a:pt x="0" y="28556"/>
                  </a:lnTo>
                  <a:cubicBezTo>
                    <a:pt x="0" y="20982"/>
                    <a:pt x="3009" y="13719"/>
                    <a:pt x="8364" y="8364"/>
                  </a:cubicBezTo>
                  <a:cubicBezTo>
                    <a:pt x="13719" y="3009"/>
                    <a:pt x="20982" y="0"/>
                    <a:pt x="285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6263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784772" cy="637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388687" y="2394493"/>
            <a:ext cx="1004700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An innovative system that integrates medical imaging with clinical data, powered by Azure OpenAI services.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009222" y="2013944"/>
            <a:ext cx="2186366" cy="2096094"/>
            <a:chOff x="0" y="0"/>
            <a:chExt cx="575833" cy="5520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5833" cy="552058"/>
            </a:xfrm>
            <a:custGeom>
              <a:avLst/>
              <a:gdLst/>
              <a:ahLst/>
              <a:cxnLst/>
              <a:rect r="r" b="b" t="t" l="l"/>
              <a:pathLst>
                <a:path h="552058" w="575833">
                  <a:moveTo>
                    <a:pt x="138099" y="0"/>
                  </a:moveTo>
                  <a:lnTo>
                    <a:pt x="437734" y="0"/>
                  </a:lnTo>
                  <a:cubicBezTo>
                    <a:pt x="514004" y="0"/>
                    <a:pt x="575833" y="61829"/>
                    <a:pt x="575833" y="138099"/>
                  </a:cubicBezTo>
                  <a:lnTo>
                    <a:pt x="575833" y="413959"/>
                  </a:lnTo>
                  <a:cubicBezTo>
                    <a:pt x="575833" y="450585"/>
                    <a:pt x="561283" y="485711"/>
                    <a:pt x="535385" y="511609"/>
                  </a:cubicBezTo>
                  <a:cubicBezTo>
                    <a:pt x="509486" y="537508"/>
                    <a:pt x="474360" y="552058"/>
                    <a:pt x="437734" y="552058"/>
                  </a:cubicBezTo>
                  <a:lnTo>
                    <a:pt x="138099" y="552058"/>
                  </a:lnTo>
                  <a:cubicBezTo>
                    <a:pt x="101473" y="552058"/>
                    <a:pt x="66347" y="537508"/>
                    <a:pt x="40448" y="511609"/>
                  </a:cubicBezTo>
                  <a:cubicBezTo>
                    <a:pt x="14550" y="485711"/>
                    <a:pt x="0" y="450585"/>
                    <a:pt x="0" y="413959"/>
                  </a:cubicBezTo>
                  <a:lnTo>
                    <a:pt x="0" y="138099"/>
                  </a:lnTo>
                  <a:cubicBezTo>
                    <a:pt x="0" y="101473"/>
                    <a:pt x="14550" y="66347"/>
                    <a:pt x="40448" y="40448"/>
                  </a:cubicBezTo>
                  <a:cubicBezTo>
                    <a:pt x="66347" y="14550"/>
                    <a:pt x="101473" y="0"/>
                    <a:pt x="138099" y="0"/>
                  </a:cubicBezTo>
                  <a:close/>
                </a:path>
              </a:pathLst>
            </a:custGeom>
            <a:solidFill>
              <a:srgbClr val="02626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575833" cy="637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449623" y="2295367"/>
            <a:ext cx="1217511" cy="89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 b="true">
                <a:solidFill>
                  <a:srgbClr val="DEDEDE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AI-Driven EHR System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195588" y="4341334"/>
            <a:ext cx="10573431" cy="2096094"/>
            <a:chOff x="0" y="0"/>
            <a:chExt cx="2784772" cy="5520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84772" cy="552058"/>
            </a:xfrm>
            <a:custGeom>
              <a:avLst/>
              <a:gdLst/>
              <a:ahLst/>
              <a:cxnLst/>
              <a:rect r="r" b="b" t="t" l="l"/>
              <a:pathLst>
                <a:path h="552058" w="2784772">
                  <a:moveTo>
                    <a:pt x="28556" y="0"/>
                  </a:moveTo>
                  <a:lnTo>
                    <a:pt x="2756216" y="0"/>
                  </a:lnTo>
                  <a:cubicBezTo>
                    <a:pt x="2771987" y="0"/>
                    <a:pt x="2784772" y="12785"/>
                    <a:pt x="2784772" y="28556"/>
                  </a:cubicBezTo>
                  <a:lnTo>
                    <a:pt x="2784772" y="523502"/>
                  </a:lnTo>
                  <a:cubicBezTo>
                    <a:pt x="2784772" y="531075"/>
                    <a:pt x="2781763" y="538339"/>
                    <a:pt x="2776408" y="543694"/>
                  </a:cubicBezTo>
                  <a:cubicBezTo>
                    <a:pt x="2771053" y="549049"/>
                    <a:pt x="2763789" y="552058"/>
                    <a:pt x="2756216" y="552058"/>
                  </a:cubicBezTo>
                  <a:lnTo>
                    <a:pt x="28556" y="552058"/>
                  </a:lnTo>
                  <a:cubicBezTo>
                    <a:pt x="20982" y="552058"/>
                    <a:pt x="13719" y="549049"/>
                    <a:pt x="8364" y="543694"/>
                  </a:cubicBezTo>
                  <a:cubicBezTo>
                    <a:pt x="3009" y="538339"/>
                    <a:pt x="0" y="531075"/>
                    <a:pt x="0" y="523502"/>
                  </a:cubicBezTo>
                  <a:lnTo>
                    <a:pt x="0" y="28556"/>
                  </a:lnTo>
                  <a:cubicBezTo>
                    <a:pt x="0" y="20982"/>
                    <a:pt x="3009" y="13719"/>
                    <a:pt x="8364" y="8364"/>
                  </a:cubicBezTo>
                  <a:cubicBezTo>
                    <a:pt x="13719" y="3009"/>
                    <a:pt x="20982" y="0"/>
                    <a:pt x="285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626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2784772" cy="637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541134" y="4586288"/>
            <a:ext cx="10047003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Key components include data collection and preprocessing, medical imaging enhancement, clinical note automation, and system integration.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006838" y="4366916"/>
            <a:ext cx="2188750" cy="2096094"/>
            <a:chOff x="0" y="0"/>
            <a:chExt cx="576461" cy="5520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6461" cy="552058"/>
            </a:xfrm>
            <a:custGeom>
              <a:avLst/>
              <a:gdLst/>
              <a:ahLst/>
              <a:cxnLst/>
              <a:rect r="r" b="b" t="t" l="l"/>
              <a:pathLst>
                <a:path h="552058" w="576461">
                  <a:moveTo>
                    <a:pt x="137949" y="0"/>
                  </a:moveTo>
                  <a:lnTo>
                    <a:pt x="438512" y="0"/>
                  </a:lnTo>
                  <a:cubicBezTo>
                    <a:pt x="475099" y="0"/>
                    <a:pt x="510186" y="14534"/>
                    <a:pt x="536057" y="40404"/>
                  </a:cubicBezTo>
                  <a:cubicBezTo>
                    <a:pt x="561927" y="66275"/>
                    <a:pt x="576461" y="101362"/>
                    <a:pt x="576461" y="137949"/>
                  </a:cubicBezTo>
                  <a:lnTo>
                    <a:pt x="576461" y="414109"/>
                  </a:lnTo>
                  <a:cubicBezTo>
                    <a:pt x="576461" y="490296"/>
                    <a:pt x="514699" y="552058"/>
                    <a:pt x="438512" y="552058"/>
                  </a:cubicBezTo>
                  <a:lnTo>
                    <a:pt x="137949" y="552058"/>
                  </a:lnTo>
                  <a:cubicBezTo>
                    <a:pt x="101362" y="552058"/>
                    <a:pt x="66275" y="537524"/>
                    <a:pt x="40404" y="511654"/>
                  </a:cubicBezTo>
                  <a:cubicBezTo>
                    <a:pt x="14534" y="485783"/>
                    <a:pt x="0" y="450695"/>
                    <a:pt x="0" y="414109"/>
                  </a:cubicBezTo>
                  <a:lnTo>
                    <a:pt x="0" y="137949"/>
                  </a:lnTo>
                  <a:cubicBezTo>
                    <a:pt x="0" y="61762"/>
                    <a:pt x="61762" y="0"/>
                    <a:pt x="137949" y="0"/>
                  </a:cubicBezTo>
                  <a:close/>
                </a:path>
              </a:pathLst>
            </a:custGeom>
            <a:solidFill>
              <a:srgbClr val="026263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576461" cy="637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195361" y="4699400"/>
            <a:ext cx="1930112" cy="6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1"/>
              </a:lnSpc>
            </a:pPr>
            <a:r>
              <a:rPr lang="en-US" sz="1750" b="true">
                <a:solidFill>
                  <a:srgbClr val="DEDEDE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Architecture Modules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9227975"/>
            <a:ext cx="2933362" cy="37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>
                <a:solidFill>
                  <a:srgbClr val="026263"/>
                </a:solidFill>
                <a:latin typeface="DM Sans"/>
                <a:ea typeface="DM Sans"/>
                <a:cs typeface="DM Sans"/>
                <a:sym typeface="DM Sans"/>
              </a:rPr>
              <a:t>Presentation I </a:t>
            </a:r>
            <a:r>
              <a:rPr lang="en-US" sz="2280" b="true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AutoShape 26" id="26"/>
          <p:cNvSpPr/>
          <p:nvPr/>
        </p:nvSpPr>
        <p:spPr>
          <a:xfrm>
            <a:off x="3683318" y="9455470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3006838" y="6664137"/>
            <a:ext cx="2118635" cy="2096094"/>
            <a:chOff x="0" y="0"/>
            <a:chExt cx="557994" cy="5520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7994" cy="552058"/>
            </a:xfrm>
            <a:custGeom>
              <a:avLst/>
              <a:gdLst/>
              <a:ahLst/>
              <a:cxnLst/>
              <a:rect r="r" b="b" t="t" l="l"/>
              <a:pathLst>
                <a:path h="552058" w="557994">
                  <a:moveTo>
                    <a:pt x="142514" y="0"/>
                  </a:moveTo>
                  <a:lnTo>
                    <a:pt x="415481" y="0"/>
                  </a:lnTo>
                  <a:cubicBezTo>
                    <a:pt x="494189" y="0"/>
                    <a:pt x="557994" y="63806"/>
                    <a:pt x="557994" y="142514"/>
                  </a:cubicBezTo>
                  <a:lnTo>
                    <a:pt x="557994" y="409544"/>
                  </a:lnTo>
                  <a:cubicBezTo>
                    <a:pt x="557994" y="447341"/>
                    <a:pt x="542980" y="483590"/>
                    <a:pt x="516253" y="510316"/>
                  </a:cubicBezTo>
                  <a:cubicBezTo>
                    <a:pt x="489527" y="537043"/>
                    <a:pt x="453278" y="552058"/>
                    <a:pt x="415481" y="552058"/>
                  </a:cubicBezTo>
                  <a:lnTo>
                    <a:pt x="142514" y="552058"/>
                  </a:lnTo>
                  <a:cubicBezTo>
                    <a:pt x="104717" y="552058"/>
                    <a:pt x="68468" y="537043"/>
                    <a:pt x="41741" y="510316"/>
                  </a:cubicBezTo>
                  <a:cubicBezTo>
                    <a:pt x="15015" y="483590"/>
                    <a:pt x="0" y="447341"/>
                    <a:pt x="0" y="409544"/>
                  </a:cubicBezTo>
                  <a:lnTo>
                    <a:pt x="0" y="142514"/>
                  </a:lnTo>
                  <a:cubicBezTo>
                    <a:pt x="0" y="104717"/>
                    <a:pt x="15015" y="68468"/>
                    <a:pt x="41741" y="41741"/>
                  </a:cubicBezTo>
                  <a:cubicBezTo>
                    <a:pt x="68468" y="15015"/>
                    <a:pt x="104717" y="0"/>
                    <a:pt x="142514" y="0"/>
                  </a:cubicBezTo>
                  <a:close/>
                </a:path>
              </a:pathLst>
            </a:custGeom>
            <a:solidFill>
              <a:srgbClr val="026263"/>
            </a:soli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557994" cy="637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157098" y="7240787"/>
            <a:ext cx="1510036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 b="true">
                <a:solidFill>
                  <a:srgbClr val="DEDEDE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Seamless Integration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41134" y="6883509"/>
            <a:ext cx="1004700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The architecture is designed for smooth deployment and integration into existing healthcare workflows.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125473" y="6623807"/>
            <a:ext cx="10573431" cy="2096094"/>
            <a:chOff x="0" y="0"/>
            <a:chExt cx="2784772" cy="55205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84772" cy="552058"/>
            </a:xfrm>
            <a:custGeom>
              <a:avLst/>
              <a:gdLst/>
              <a:ahLst/>
              <a:cxnLst/>
              <a:rect r="r" b="b" t="t" l="l"/>
              <a:pathLst>
                <a:path h="552058" w="2784772">
                  <a:moveTo>
                    <a:pt x="28556" y="0"/>
                  </a:moveTo>
                  <a:lnTo>
                    <a:pt x="2756216" y="0"/>
                  </a:lnTo>
                  <a:cubicBezTo>
                    <a:pt x="2771987" y="0"/>
                    <a:pt x="2784772" y="12785"/>
                    <a:pt x="2784772" y="28556"/>
                  </a:cubicBezTo>
                  <a:lnTo>
                    <a:pt x="2784772" y="523502"/>
                  </a:lnTo>
                  <a:cubicBezTo>
                    <a:pt x="2784772" y="531075"/>
                    <a:pt x="2781763" y="538339"/>
                    <a:pt x="2776408" y="543694"/>
                  </a:cubicBezTo>
                  <a:cubicBezTo>
                    <a:pt x="2771053" y="549049"/>
                    <a:pt x="2763789" y="552058"/>
                    <a:pt x="2756216" y="552058"/>
                  </a:cubicBezTo>
                  <a:lnTo>
                    <a:pt x="28556" y="552058"/>
                  </a:lnTo>
                  <a:cubicBezTo>
                    <a:pt x="20982" y="552058"/>
                    <a:pt x="13719" y="549049"/>
                    <a:pt x="8364" y="543694"/>
                  </a:cubicBezTo>
                  <a:cubicBezTo>
                    <a:pt x="3009" y="538339"/>
                    <a:pt x="0" y="531075"/>
                    <a:pt x="0" y="523502"/>
                  </a:cubicBezTo>
                  <a:lnTo>
                    <a:pt x="0" y="28556"/>
                  </a:lnTo>
                  <a:cubicBezTo>
                    <a:pt x="0" y="20982"/>
                    <a:pt x="3009" y="13719"/>
                    <a:pt x="8364" y="8364"/>
                  </a:cubicBezTo>
                  <a:cubicBezTo>
                    <a:pt x="13719" y="3009"/>
                    <a:pt x="20982" y="0"/>
                    <a:pt x="285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6263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2784772" cy="637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569510" y="-136176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40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40" y="0"/>
                </a:lnTo>
                <a:lnTo>
                  <a:pt x="10999340" y="56316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896138" y="537624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1" y="0"/>
                </a:lnTo>
                <a:lnTo>
                  <a:pt x="1604331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83318" y="710905"/>
            <a:ext cx="10363876" cy="233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6"/>
              </a:lnSpc>
            </a:pPr>
            <a:r>
              <a:rPr lang="en-US" b="true" sz="4376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TOOLS &amp; TECHNOLOGIES USED</a:t>
            </a:r>
          </a:p>
          <a:p>
            <a:pPr algn="ctr">
              <a:lnSpc>
                <a:spcPts val="612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227975"/>
            <a:ext cx="2933362" cy="37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>
                <a:solidFill>
                  <a:srgbClr val="026263"/>
                </a:solidFill>
                <a:latin typeface="DM Sans"/>
                <a:ea typeface="DM Sans"/>
                <a:cs typeface="DM Sans"/>
                <a:sym typeface="DM Sans"/>
              </a:rPr>
              <a:t>Presentation I </a:t>
            </a:r>
            <a:r>
              <a:rPr lang="en-US" sz="2280" b="true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683318" y="9455470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3330882" y="2740655"/>
            <a:ext cx="1262360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262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02898" y="2762244"/>
            <a:ext cx="12206924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26263"/>
                </a:solidFill>
                <a:latin typeface="Canva Sans"/>
                <a:ea typeface="Canva Sans"/>
                <a:cs typeface="Canva Sans"/>
                <a:sym typeface="Canva Sans"/>
              </a:rPr>
              <a:t>The primary programming language utilized for developing the AI models and data processing scripts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07595" y="3767531"/>
            <a:ext cx="3270861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262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Pandas &amp; NumPy: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70702" y="3843177"/>
            <a:ext cx="10980844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26263"/>
                </a:solidFill>
                <a:latin typeface="Canva Sans"/>
                <a:ea typeface="Canva Sans"/>
                <a:cs typeface="Canva Sans"/>
                <a:sym typeface="Canva Sans"/>
              </a:rPr>
              <a:t>Essential libraries for data cleaning, manipulation, and analysis, enabling efficient handling of large datasets.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36908" y="4794407"/>
            <a:ext cx="1898848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262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PIL (Pillow):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85215" y="4877036"/>
            <a:ext cx="10980844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26263"/>
                </a:solidFill>
                <a:latin typeface="Canva Sans"/>
                <a:ea typeface="Canva Sans"/>
                <a:cs typeface="Canva Sans"/>
                <a:sym typeface="Canva Sans"/>
              </a:rPr>
              <a:t>A powerful library for image preprocessing and resizing, crucial for preparing medical images for analysis.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30882" y="6041398"/>
            <a:ext cx="2350294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262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Collab: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94966" y="6062987"/>
            <a:ext cx="10980844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26263"/>
                </a:solidFill>
                <a:latin typeface="Canva Sans"/>
                <a:ea typeface="Canva Sans"/>
                <a:cs typeface="Canva Sans"/>
                <a:sym typeface="Canva Sans"/>
              </a:rPr>
              <a:t>A cloud-based environment that facilitates collaborative coding and execution of our AI models.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19430" y="7169646"/>
            <a:ext cx="1249759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262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39408" y="7191235"/>
            <a:ext cx="10980844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26263"/>
                </a:solidFill>
                <a:latin typeface="Canva Sans"/>
                <a:ea typeface="Canva Sans"/>
                <a:cs typeface="Canva Sans"/>
                <a:sym typeface="Canva Sans"/>
              </a:rPr>
              <a:t>A version control platform that supports collaboration and tracking of project progress.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90162" y="6176963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1"/>
                </a:lnTo>
                <a:lnTo>
                  <a:pt x="0" y="5631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896138" y="726872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1" y="0"/>
                </a:lnTo>
                <a:lnTo>
                  <a:pt x="1604331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567341"/>
            <a:ext cx="2933362" cy="37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>
                <a:solidFill>
                  <a:srgbClr val="026263"/>
                </a:solidFill>
                <a:latin typeface="DM Sans"/>
                <a:ea typeface="DM Sans"/>
                <a:cs typeface="DM Sans"/>
                <a:sym typeface="DM Sans"/>
              </a:rPr>
              <a:t>Presentation I </a:t>
            </a:r>
            <a:r>
              <a:rPr lang="en-US" sz="2280" b="true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07</a:t>
            </a:r>
          </a:p>
        </p:txBody>
      </p:sp>
      <p:sp>
        <p:nvSpPr>
          <p:cNvPr name="AutoShape 9" id="9"/>
          <p:cNvSpPr/>
          <p:nvPr/>
        </p:nvSpPr>
        <p:spPr>
          <a:xfrm>
            <a:off x="3886909" y="9775787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445460" y="1514782"/>
            <a:ext cx="14020599" cy="7921638"/>
          </a:xfrm>
          <a:custGeom>
            <a:avLst/>
            <a:gdLst/>
            <a:ahLst/>
            <a:cxnLst/>
            <a:rect r="r" b="b" t="t" l="l"/>
            <a:pathLst>
              <a:path h="7921638" w="14020599">
                <a:moveTo>
                  <a:pt x="0" y="0"/>
                </a:moveTo>
                <a:lnTo>
                  <a:pt x="14020599" y="0"/>
                </a:lnTo>
                <a:lnTo>
                  <a:pt x="14020599" y="7921638"/>
                </a:lnTo>
                <a:lnTo>
                  <a:pt x="0" y="79216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73822" y="211309"/>
            <a:ext cx="10363876" cy="298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6"/>
              </a:lnSpc>
            </a:pPr>
            <a:r>
              <a:rPr lang="en-US" b="true" sz="5576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IMPLEMENTATION PROGRESS</a:t>
            </a:r>
          </a:p>
          <a:p>
            <a:pPr algn="ctr">
              <a:lnSpc>
                <a:spcPts val="780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457134" y="3902331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62062" y="-180975"/>
            <a:ext cx="10363876" cy="396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6"/>
              </a:lnSpc>
            </a:pPr>
            <a:r>
              <a:rPr lang="en-US" b="true" sz="7475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CHALLENGES FACED</a:t>
            </a:r>
          </a:p>
          <a:p>
            <a:pPr algn="ctr">
              <a:lnSpc>
                <a:spcPts val="10466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4179124" y="3637081"/>
            <a:ext cx="4754545" cy="4477047"/>
            <a:chOff x="0" y="0"/>
            <a:chExt cx="1252226" cy="1179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2226" cy="1179140"/>
            </a:xfrm>
            <a:custGeom>
              <a:avLst/>
              <a:gdLst/>
              <a:ahLst/>
              <a:cxnLst/>
              <a:rect r="r" b="b" t="t" l="l"/>
              <a:pathLst>
                <a:path h="1179140" w="1252226">
                  <a:moveTo>
                    <a:pt x="63504" y="0"/>
                  </a:moveTo>
                  <a:lnTo>
                    <a:pt x="1188721" y="0"/>
                  </a:lnTo>
                  <a:cubicBezTo>
                    <a:pt x="1205564" y="0"/>
                    <a:pt x="1221716" y="6691"/>
                    <a:pt x="1233626" y="18600"/>
                  </a:cubicBezTo>
                  <a:cubicBezTo>
                    <a:pt x="1245535" y="30509"/>
                    <a:pt x="1252226" y="46662"/>
                    <a:pt x="1252226" y="63504"/>
                  </a:cubicBezTo>
                  <a:lnTo>
                    <a:pt x="1252226" y="1115635"/>
                  </a:lnTo>
                  <a:cubicBezTo>
                    <a:pt x="1252226" y="1150708"/>
                    <a:pt x="1223794" y="1179140"/>
                    <a:pt x="1188721" y="1179140"/>
                  </a:cubicBezTo>
                  <a:lnTo>
                    <a:pt x="63504" y="1179140"/>
                  </a:lnTo>
                  <a:cubicBezTo>
                    <a:pt x="28432" y="1179140"/>
                    <a:pt x="0" y="1150708"/>
                    <a:pt x="0" y="1115635"/>
                  </a:cubicBezTo>
                  <a:lnTo>
                    <a:pt x="0" y="63504"/>
                  </a:lnTo>
                  <a:cubicBezTo>
                    <a:pt x="0" y="28432"/>
                    <a:pt x="28432" y="0"/>
                    <a:pt x="635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6263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252226" cy="126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555603" y="3980129"/>
            <a:ext cx="4046253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The EHR dataset initially lacked a 'No Tumor' category, leading to incomplete mapping of MRI images.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864282" y="3651665"/>
            <a:ext cx="2314843" cy="2806724"/>
            <a:chOff x="0" y="0"/>
            <a:chExt cx="609670" cy="7392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9670" cy="739219"/>
            </a:xfrm>
            <a:custGeom>
              <a:avLst/>
              <a:gdLst/>
              <a:ahLst/>
              <a:cxnLst/>
              <a:rect r="r" b="b" t="t" l="l"/>
              <a:pathLst>
                <a:path h="739219" w="609670">
                  <a:moveTo>
                    <a:pt x="130434" y="0"/>
                  </a:moveTo>
                  <a:lnTo>
                    <a:pt x="479236" y="0"/>
                  </a:lnTo>
                  <a:cubicBezTo>
                    <a:pt x="551273" y="0"/>
                    <a:pt x="609670" y="58397"/>
                    <a:pt x="609670" y="130434"/>
                  </a:cubicBezTo>
                  <a:lnTo>
                    <a:pt x="609670" y="608785"/>
                  </a:lnTo>
                  <a:cubicBezTo>
                    <a:pt x="609670" y="643379"/>
                    <a:pt x="595928" y="676555"/>
                    <a:pt x="571467" y="701016"/>
                  </a:cubicBezTo>
                  <a:cubicBezTo>
                    <a:pt x="547006" y="725477"/>
                    <a:pt x="513830" y="739219"/>
                    <a:pt x="479236" y="739219"/>
                  </a:cubicBezTo>
                  <a:lnTo>
                    <a:pt x="130434" y="739219"/>
                  </a:lnTo>
                  <a:cubicBezTo>
                    <a:pt x="95841" y="739219"/>
                    <a:pt x="62665" y="725477"/>
                    <a:pt x="38203" y="701016"/>
                  </a:cubicBezTo>
                  <a:cubicBezTo>
                    <a:pt x="13742" y="676555"/>
                    <a:pt x="0" y="643379"/>
                    <a:pt x="0" y="608785"/>
                  </a:cubicBezTo>
                  <a:lnTo>
                    <a:pt x="0" y="130434"/>
                  </a:lnTo>
                  <a:cubicBezTo>
                    <a:pt x="0" y="95841"/>
                    <a:pt x="13742" y="62665"/>
                    <a:pt x="38203" y="38203"/>
                  </a:cubicBezTo>
                  <a:cubicBezTo>
                    <a:pt x="62665" y="13742"/>
                    <a:pt x="95841" y="0"/>
                    <a:pt x="130434" y="0"/>
                  </a:cubicBezTo>
                  <a:close/>
                </a:path>
              </a:pathLst>
            </a:custGeom>
            <a:solidFill>
              <a:srgbClr val="02626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609670" cy="824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64282" y="3989654"/>
            <a:ext cx="2280029" cy="163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1"/>
              </a:lnSpc>
            </a:pPr>
            <a:r>
              <a:rPr lang="en-US" sz="2351" b="true">
                <a:solidFill>
                  <a:srgbClr val="DEDEDE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Normal Class Mismatch</a:t>
            </a:r>
          </a:p>
          <a:p>
            <a:pPr algn="ctr">
              <a:lnSpc>
                <a:spcPts val="3291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1669173" y="3637081"/>
            <a:ext cx="4754545" cy="4477047"/>
            <a:chOff x="0" y="0"/>
            <a:chExt cx="1252226" cy="1179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2226" cy="1179140"/>
            </a:xfrm>
            <a:custGeom>
              <a:avLst/>
              <a:gdLst/>
              <a:ahLst/>
              <a:cxnLst/>
              <a:rect r="r" b="b" t="t" l="l"/>
              <a:pathLst>
                <a:path h="1179140" w="1252226">
                  <a:moveTo>
                    <a:pt x="63504" y="0"/>
                  </a:moveTo>
                  <a:lnTo>
                    <a:pt x="1188721" y="0"/>
                  </a:lnTo>
                  <a:cubicBezTo>
                    <a:pt x="1205564" y="0"/>
                    <a:pt x="1221716" y="6691"/>
                    <a:pt x="1233626" y="18600"/>
                  </a:cubicBezTo>
                  <a:cubicBezTo>
                    <a:pt x="1245535" y="30509"/>
                    <a:pt x="1252226" y="46662"/>
                    <a:pt x="1252226" y="63504"/>
                  </a:cubicBezTo>
                  <a:lnTo>
                    <a:pt x="1252226" y="1115635"/>
                  </a:lnTo>
                  <a:cubicBezTo>
                    <a:pt x="1252226" y="1150708"/>
                    <a:pt x="1223794" y="1179140"/>
                    <a:pt x="1188721" y="1179140"/>
                  </a:cubicBezTo>
                  <a:lnTo>
                    <a:pt x="63504" y="1179140"/>
                  </a:lnTo>
                  <a:cubicBezTo>
                    <a:pt x="28432" y="1179140"/>
                    <a:pt x="0" y="1150708"/>
                    <a:pt x="0" y="1115635"/>
                  </a:cubicBezTo>
                  <a:lnTo>
                    <a:pt x="0" y="63504"/>
                  </a:lnTo>
                  <a:cubicBezTo>
                    <a:pt x="0" y="28432"/>
                    <a:pt x="28432" y="0"/>
                    <a:pt x="635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626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252226" cy="126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023319" y="3980129"/>
            <a:ext cx="4046253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MRI image filenames had varying prefixes, complicating the extraction of correct class information.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54331" y="3651665"/>
            <a:ext cx="2314843" cy="2806724"/>
            <a:chOff x="0" y="0"/>
            <a:chExt cx="609670" cy="7392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9670" cy="739219"/>
            </a:xfrm>
            <a:custGeom>
              <a:avLst/>
              <a:gdLst/>
              <a:ahLst/>
              <a:cxnLst/>
              <a:rect r="r" b="b" t="t" l="l"/>
              <a:pathLst>
                <a:path h="739219" w="609670">
                  <a:moveTo>
                    <a:pt x="130434" y="0"/>
                  </a:moveTo>
                  <a:lnTo>
                    <a:pt x="479236" y="0"/>
                  </a:lnTo>
                  <a:cubicBezTo>
                    <a:pt x="551273" y="0"/>
                    <a:pt x="609670" y="58397"/>
                    <a:pt x="609670" y="130434"/>
                  </a:cubicBezTo>
                  <a:lnTo>
                    <a:pt x="609670" y="608785"/>
                  </a:lnTo>
                  <a:cubicBezTo>
                    <a:pt x="609670" y="643379"/>
                    <a:pt x="595928" y="676555"/>
                    <a:pt x="571467" y="701016"/>
                  </a:cubicBezTo>
                  <a:cubicBezTo>
                    <a:pt x="547006" y="725477"/>
                    <a:pt x="513830" y="739219"/>
                    <a:pt x="479236" y="739219"/>
                  </a:cubicBezTo>
                  <a:lnTo>
                    <a:pt x="130434" y="739219"/>
                  </a:lnTo>
                  <a:cubicBezTo>
                    <a:pt x="95841" y="739219"/>
                    <a:pt x="62665" y="725477"/>
                    <a:pt x="38203" y="701016"/>
                  </a:cubicBezTo>
                  <a:cubicBezTo>
                    <a:pt x="13742" y="676555"/>
                    <a:pt x="0" y="643379"/>
                    <a:pt x="0" y="608785"/>
                  </a:cubicBezTo>
                  <a:lnTo>
                    <a:pt x="0" y="130434"/>
                  </a:lnTo>
                  <a:cubicBezTo>
                    <a:pt x="0" y="95841"/>
                    <a:pt x="13742" y="62665"/>
                    <a:pt x="38203" y="38203"/>
                  </a:cubicBezTo>
                  <a:cubicBezTo>
                    <a:pt x="62665" y="13742"/>
                    <a:pt x="95841" y="0"/>
                    <a:pt x="130434" y="0"/>
                  </a:cubicBezTo>
                  <a:close/>
                </a:path>
              </a:pathLst>
            </a:custGeom>
            <a:solidFill>
              <a:srgbClr val="026263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609670" cy="824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354331" y="4113862"/>
            <a:ext cx="2306793" cy="114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true">
                <a:solidFill>
                  <a:srgbClr val="DEDEDE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Inconsistent Filenames</a:t>
            </a:r>
          </a:p>
          <a:p>
            <a:pPr algn="ctr">
              <a:lnSpc>
                <a:spcPts val="308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9227975"/>
            <a:ext cx="2933362" cy="37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>
                <a:solidFill>
                  <a:srgbClr val="026263"/>
                </a:solidFill>
                <a:latin typeface="DM Sans"/>
                <a:ea typeface="DM Sans"/>
                <a:cs typeface="DM Sans"/>
                <a:sym typeface="DM Sans"/>
              </a:rPr>
              <a:t>Presentation I </a:t>
            </a:r>
            <a:r>
              <a:rPr lang="en-US" sz="2280" b="true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AutoShape 26" id="26"/>
          <p:cNvSpPr/>
          <p:nvPr/>
        </p:nvSpPr>
        <p:spPr>
          <a:xfrm>
            <a:off x="3683318" y="9455470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457134" y="3902331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62062" y="-200025"/>
            <a:ext cx="10363876" cy="409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6"/>
              </a:lnSpc>
            </a:pPr>
            <a:r>
              <a:rPr lang="en-US" b="true" sz="7675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LEARNINGS &amp; SOLUTIONS</a:t>
            </a:r>
          </a:p>
          <a:p>
            <a:pPr algn="ctr">
              <a:lnSpc>
                <a:spcPts val="10746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4179124" y="3637081"/>
            <a:ext cx="4754545" cy="4477047"/>
            <a:chOff x="0" y="0"/>
            <a:chExt cx="1252226" cy="1179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2226" cy="1179140"/>
            </a:xfrm>
            <a:custGeom>
              <a:avLst/>
              <a:gdLst/>
              <a:ahLst/>
              <a:cxnLst/>
              <a:rect r="r" b="b" t="t" l="l"/>
              <a:pathLst>
                <a:path h="1179140" w="1252226">
                  <a:moveTo>
                    <a:pt x="63504" y="0"/>
                  </a:moveTo>
                  <a:lnTo>
                    <a:pt x="1188721" y="0"/>
                  </a:lnTo>
                  <a:cubicBezTo>
                    <a:pt x="1205564" y="0"/>
                    <a:pt x="1221716" y="6691"/>
                    <a:pt x="1233626" y="18600"/>
                  </a:cubicBezTo>
                  <a:cubicBezTo>
                    <a:pt x="1245535" y="30509"/>
                    <a:pt x="1252226" y="46662"/>
                    <a:pt x="1252226" y="63504"/>
                  </a:cubicBezTo>
                  <a:lnTo>
                    <a:pt x="1252226" y="1115635"/>
                  </a:lnTo>
                  <a:cubicBezTo>
                    <a:pt x="1252226" y="1150708"/>
                    <a:pt x="1223794" y="1179140"/>
                    <a:pt x="1188721" y="1179140"/>
                  </a:cubicBezTo>
                  <a:lnTo>
                    <a:pt x="63504" y="1179140"/>
                  </a:lnTo>
                  <a:cubicBezTo>
                    <a:pt x="28432" y="1179140"/>
                    <a:pt x="0" y="1150708"/>
                    <a:pt x="0" y="1115635"/>
                  </a:cubicBezTo>
                  <a:lnTo>
                    <a:pt x="0" y="63504"/>
                  </a:lnTo>
                  <a:cubicBezTo>
                    <a:pt x="0" y="28432"/>
                    <a:pt x="28432" y="0"/>
                    <a:pt x="635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6263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252226" cy="126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555603" y="3980129"/>
            <a:ext cx="4046253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We learned that real-world datasets often contain inconsistencies; we added a 'No Tumor' class to ensure dataset balance.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864282" y="3651665"/>
            <a:ext cx="2280029" cy="2831228"/>
            <a:chOff x="0" y="0"/>
            <a:chExt cx="600501" cy="7456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0501" cy="745673"/>
            </a:xfrm>
            <a:custGeom>
              <a:avLst/>
              <a:gdLst/>
              <a:ahLst/>
              <a:cxnLst/>
              <a:rect r="r" b="b" t="t" l="l"/>
              <a:pathLst>
                <a:path h="745673" w="600501">
                  <a:moveTo>
                    <a:pt x="132426" y="0"/>
                  </a:moveTo>
                  <a:lnTo>
                    <a:pt x="468075" y="0"/>
                  </a:lnTo>
                  <a:cubicBezTo>
                    <a:pt x="503197" y="0"/>
                    <a:pt x="536880" y="13952"/>
                    <a:pt x="561715" y="38787"/>
                  </a:cubicBezTo>
                  <a:cubicBezTo>
                    <a:pt x="586549" y="63621"/>
                    <a:pt x="600501" y="97304"/>
                    <a:pt x="600501" y="132426"/>
                  </a:cubicBezTo>
                  <a:lnTo>
                    <a:pt x="600501" y="613247"/>
                  </a:lnTo>
                  <a:cubicBezTo>
                    <a:pt x="600501" y="686384"/>
                    <a:pt x="541212" y="745673"/>
                    <a:pt x="468075" y="745673"/>
                  </a:cubicBezTo>
                  <a:lnTo>
                    <a:pt x="132426" y="745673"/>
                  </a:lnTo>
                  <a:cubicBezTo>
                    <a:pt x="59289" y="745673"/>
                    <a:pt x="0" y="686384"/>
                    <a:pt x="0" y="613247"/>
                  </a:cubicBezTo>
                  <a:lnTo>
                    <a:pt x="0" y="132426"/>
                  </a:lnTo>
                  <a:cubicBezTo>
                    <a:pt x="0" y="97304"/>
                    <a:pt x="13952" y="63621"/>
                    <a:pt x="38787" y="38787"/>
                  </a:cubicBezTo>
                  <a:cubicBezTo>
                    <a:pt x="63621" y="13952"/>
                    <a:pt x="97304" y="0"/>
                    <a:pt x="132426" y="0"/>
                  </a:cubicBezTo>
                  <a:close/>
                </a:path>
              </a:pathLst>
            </a:custGeom>
            <a:solidFill>
              <a:srgbClr val="02626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600501" cy="83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082777" y="4123387"/>
            <a:ext cx="1879285" cy="118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 b="true">
                <a:solidFill>
                  <a:srgbClr val="DEDEDE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Normal Class Mismatch Resolution</a:t>
            </a:r>
          </a:p>
          <a:p>
            <a:pPr algn="ctr">
              <a:lnSpc>
                <a:spcPts val="237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1669173" y="3637081"/>
            <a:ext cx="4754545" cy="4477047"/>
            <a:chOff x="0" y="0"/>
            <a:chExt cx="1252226" cy="1179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2226" cy="1179140"/>
            </a:xfrm>
            <a:custGeom>
              <a:avLst/>
              <a:gdLst/>
              <a:ahLst/>
              <a:cxnLst/>
              <a:rect r="r" b="b" t="t" l="l"/>
              <a:pathLst>
                <a:path h="1179140" w="1252226">
                  <a:moveTo>
                    <a:pt x="63504" y="0"/>
                  </a:moveTo>
                  <a:lnTo>
                    <a:pt x="1188721" y="0"/>
                  </a:lnTo>
                  <a:cubicBezTo>
                    <a:pt x="1205564" y="0"/>
                    <a:pt x="1221716" y="6691"/>
                    <a:pt x="1233626" y="18600"/>
                  </a:cubicBezTo>
                  <a:cubicBezTo>
                    <a:pt x="1245535" y="30509"/>
                    <a:pt x="1252226" y="46662"/>
                    <a:pt x="1252226" y="63504"/>
                  </a:cubicBezTo>
                  <a:lnTo>
                    <a:pt x="1252226" y="1115635"/>
                  </a:lnTo>
                  <a:cubicBezTo>
                    <a:pt x="1252226" y="1150708"/>
                    <a:pt x="1223794" y="1179140"/>
                    <a:pt x="1188721" y="1179140"/>
                  </a:cubicBezTo>
                  <a:lnTo>
                    <a:pt x="63504" y="1179140"/>
                  </a:lnTo>
                  <a:cubicBezTo>
                    <a:pt x="28432" y="1179140"/>
                    <a:pt x="0" y="1150708"/>
                    <a:pt x="0" y="1115635"/>
                  </a:cubicBezTo>
                  <a:lnTo>
                    <a:pt x="0" y="63504"/>
                  </a:lnTo>
                  <a:cubicBezTo>
                    <a:pt x="0" y="28432"/>
                    <a:pt x="28432" y="0"/>
                    <a:pt x="635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626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252226" cy="126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023319" y="3980129"/>
            <a:ext cx="4046253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Recognizing the unreliability of filename-based classification, we developed an automated validation script to cross-check with EHR biopsy results.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54331" y="3651665"/>
            <a:ext cx="2314843" cy="2831228"/>
            <a:chOff x="0" y="0"/>
            <a:chExt cx="609670" cy="74567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9670" cy="745673"/>
            </a:xfrm>
            <a:custGeom>
              <a:avLst/>
              <a:gdLst/>
              <a:ahLst/>
              <a:cxnLst/>
              <a:rect r="r" b="b" t="t" l="l"/>
              <a:pathLst>
                <a:path h="745673" w="609670">
                  <a:moveTo>
                    <a:pt x="130434" y="0"/>
                  </a:moveTo>
                  <a:lnTo>
                    <a:pt x="479236" y="0"/>
                  </a:lnTo>
                  <a:cubicBezTo>
                    <a:pt x="551273" y="0"/>
                    <a:pt x="609670" y="58397"/>
                    <a:pt x="609670" y="130434"/>
                  </a:cubicBezTo>
                  <a:lnTo>
                    <a:pt x="609670" y="615239"/>
                  </a:lnTo>
                  <a:cubicBezTo>
                    <a:pt x="609670" y="649832"/>
                    <a:pt x="595928" y="683009"/>
                    <a:pt x="571467" y="707470"/>
                  </a:cubicBezTo>
                  <a:cubicBezTo>
                    <a:pt x="547006" y="731931"/>
                    <a:pt x="513830" y="745673"/>
                    <a:pt x="479236" y="745673"/>
                  </a:cubicBezTo>
                  <a:lnTo>
                    <a:pt x="130434" y="745673"/>
                  </a:lnTo>
                  <a:cubicBezTo>
                    <a:pt x="95841" y="745673"/>
                    <a:pt x="62665" y="731931"/>
                    <a:pt x="38203" y="707470"/>
                  </a:cubicBezTo>
                  <a:cubicBezTo>
                    <a:pt x="13742" y="683009"/>
                    <a:pt x="0" y="649832"/>
                    <a:pt x="0" y="615239"/>
                  </a:cubicBezTo>
                  <a:lnTo>
                    <a:pt x="0" y="130434"/>
                  </a:lnTo>
                  <a:cubicBezTo>
                    <a:pt x="0" y="95841"/>
                    <a:pt x="13742" y="62665"/>
                    <a:pt x="38203" y="38203"/>
                  </a:cubicBezTo>
                  <a:cubicBezTo>
                    <a:pt x="62665" y="13742"/>
                    <a:pt x="95841" y="0"/>
                    <a:pt x="130434" y="0"/>
                  </a:cubicBezTo>
                  <a:close/>
                </a:path>
              </a:pathLst>
            </a:custGeom>
            <a:solidFill>
              <a:srgbClr val="026263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609670" cy="83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552794" y="4113862"/>
            <a:ext cx="2108329" cy="132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3"/>
              </a:lnSpc>
            </a:pPr>
            <a:r>
              <a:rPr lang="en-US" sz="1909" b="true">
                <a:solidFill>
                  <a:srgbClr val="DEDEDE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Filename Prefix Automation</a:t>
            </a:r>
          </a:p>
          <a:p>
            <a:pPr algn="ctr">
              <a:lnSpc>
                <a:spcPts val="2673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9227975"/>
            <a:ext cx="2933362" cy="37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>
                <a:solidFill>
                  <a:srgbClr val="026263"/>
                </a:solidFill>
                <a:latin typeface="DM Sans"/>
                <a:ea typeface="DM Sans"/>
                <a:cs typeface="DM Sans"/>
                <a:sym typeface="DM Sans"/>
              </a:rPr>
              <a:t>Presentation I </a:t>
            </a:r>
            <a:r>
              <a:rPr lang="en-US" sz="2280" b="true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</p:txBody>
      </p:sp>
      <p:sp>
        <p:nvSpPr>
          <p:cNvPr name="AutoShape 26" id="26"/>
          <p:cNvSpPr/>
          <p:nvPr/>
        </p:nvSpPr>
        <p:spPr>
          <a:xfrm>
            <a:off x="3683318" y="9455470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457134" y="3902331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07156" y="304664"/>
            <a:ext cx="12673688" cy="269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6"/>
              </a:lnSpc>
            </a:pPr>
            <a:r>
              <a:rPr lang="en-US" b="true" sz="7575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NEXT STEPS</a:t>
            </a:r>
          </a:p>
          <a:p>
            <a:pPr algn="ctr">
              <a:lnSpc>
                <a:spcPts val="1060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924641" y="2737220"/>
            <a:ext cx="14895656" cy="277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6"/>
              </a:lnSpc>
            </a:pPr>
            <a:r>
              <a:rPr lang="en-US" sz="3961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In the next phase, we’ll apply GenAI models for denoising and enhancing medical images to improve diagnostic quality. The focus will be on training and fine-tuning image enhancement models using Azure OpenAI tools for clearer, more realistic visualizations.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227975"/>
            <a:ext cx="2933362" cy="37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>
                <a:solidFill>
                  <a:srgbClr val="026263"/>
                </a:solidFill>
                <a:latin typeface="DM Sans"/>
                <a:ea typeface="DM Sans"/>
                <a:cs typeface="DM Sans"/>
                <a:sym typeface="DM Sans"/>
              </a:rPr>
              <a:t>Presentation I </a:t>
            </a:r>
            <a:r>
              <a:rPr lang="en-US" sz="2280" b="true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08</a:t>
            </a:r>
          </a:p>
        </p:txBody>
      </p:sp>
      <p:sp>
        <p:nvSpPr>
          <p:cNvPr name="AutoShape 11" id="11"/>
          <p:cNvSpPr/>
          <p:nvPr/>
        </p:nvSpPr>
        <p:spPr>
          <a:xfrm>
            <a:off x="3683318" y="9455470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457134" y="3902331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4754" y="4135669"/>
            <a:ext cx="13018493" cy="175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50"/>
              </a:lnSpc>
            </a:pPr>
            <a:r>
              <a:rPr lang="en-US" b="true" sz="9893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227975"/>
            <a:ext cx="2933362" cy="37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>
                <a:solidFill>
                  <a:srgbClr val="026263"/>
                </a:solidFill>
                <a:latin typeface="DM Sans"/>
                <a:ea typeface="DM Sans"/>
                <a:cs typeface="DM Sans"/>
                <a:sym typeface="DM Sans"/>
              </a:rPr>
              <a:t>Presentation I </a:t>
            </a:r>
            <a:r>
              <a:rPr lang="en-US" sz="2280" b="true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09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683318" y="9455470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DAG3DlUpkH4</dc:identifier>
  <dcterms:modified xsi:type="dcterms:W3CDTF">2011-08-01T06:04:30Z</dcterms:modified>
  <cp:revision>1</cp:revision>
  <dc:title>Green Clean Elegant Professional Project Presentation</dc:title>
</cp:coreProperties>
</file>