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6"/>
  </p:notesMasterIdLst>
  <p:handoutMasterIdLst>
    <p:handoutMasterId r:id="rId17"/>
  </p:handoutMasterIdLst>
  <p:sldIdLst>
    <p:sldId id="312" r:id="rId5"/>
    <p:sldId id="304" r:id="rId6"/>
    <p:sldId id="307" r:id="rId7"/>
    <p:sldId id="282" r:id="rId8"/>
    <p:sldId id="314" r:id="rId9"/>
    <p:sldId id="315" r:id="rId10"/>
    <p:sldId id="317" r:id="rId11"/>
    <p:sldId id="318" r:id="rId12"/>
    <p:sldId id="319" r:id="rId13"/>
    <p:sldId id="321" r:id="rId14"/>
    <p:sldId id="297" r:id="rId15"/>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CDCE"/>
    <a:srgbClr val="202C8F"/>
    <a:srgbClr val="FDFBF6"/>
    <a:srgbClr val="AAC4E9"/>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78" d="100"/>
          <a:sy n="78" d="100"/>
        </p:scale>
        <p:origin x="878"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529390" y="1"/>
            <a:ext cx="10523622" cy="5486400"/>
          </a:xfrm>
        </p:spPr>
        <p:txBody>
          <a:bodyPr anchor="ctr"/>
          <a:lstStyle/>
          <a:p>
            <a:pPr algn="l">
              <a:lnSpc>
                <a:spcPts val="2787"/>
              </a:lnSpc>
            </a:pPr>
            <a:r>
              <a:rPr lang="en-US" dirty="0">
                <a:solidFill>
                  <a:schemeClr val="tx1"/>
                </a:solidFill>
                <a:latin typeface="Helios Extended Bold"/>
                <a:ea typeface="Helios Extended Bold"/>
                <a:cs typeface="Helios Extended Bold"/>
                <a:sym typeface="Helios Extended Bold"/>
              </a:rPr>
              <a:t>	     AI-Powered-Enhanced EHR Imaging &amp; </a:t>
            </a:r>
            <a:br>
              <a:rPr lang="en-US" dirty="0">
                <a:solidFill>
                  <a:schemeClr val="tx1"/>
                </a:solidFill>
                <a:latin typeface="Helios Extended Bold"/>
                <a:ea typeface="Helios Extended Bold"/>
                <a:cs typeface="Helios Extended Bold"/>
                <a:sym typeface="Helios Extended Bold"/>
              </a:rPr>
            </a:br>
            <a:br>
              <a:rPr lang="en-US" dirty="0">
                <a:solidFill>
                  <a:schemeClr val="tx1"/>
                </a:solidFill>
                <a:latin typeface="Helios Extended Bold"/>
                <a:ea typeface="Helios Extended Bold"/>
                <a:cs typeface="Helios Extended Bold"/>
                <a:sym typeface="Helios Extended Bold"/>
              </a:rPr>
            </a:br>
            <a:r>
              <a:rPr lang="en-US" dirty="0">
                <a:solidFill>
                  <a:schemeClr val="tx1"/>
                </a:solidFill>
                <a:latin typeface="Helios Extended Bold"/>
                <a:ea typeface="Helios Extended Bold"/>
                <a:cs typeface="Helios Extended Bold"/>
                <a:sym typeface="Helios Extended Bold"/>
              </a:rPr>
              <a:t>		         Documentation System</a:t>
            </a:r>
            <a:br>
              <a:rPr lang="en-US" dirty="0">
                <a:solidFill>
                  <a:schemeClr val="tx1"/>
                </a:solidFill>
                <a:latin typeface="Helios Extended Bold"/>
                <a:ea typeface="Helios Extended Bold"/>
                <a:cs typeface="Helios Extended Bold"/>
                <a:sym typeface="Helios Extended Bold"/>
              </a:rPr>
            </a:br>
            <a:br>
              <a:rPr lang="en-US" dirty="0">
                <a:solidFill>
                  <a:schemeClr val="tx1"/>
                </a:solidFill>
                <a:latin typeface="Helios Extended Bold"/>
                <a:ea typeface="Helios Extended Bold"/>
                <a:cs typeface="Helios Extended Bold"/>
                <a:sym typeface="Helios Extended Bold"/>
              </a:rPr>
            </a:br>
            <a:r>
              <a:rPr lang="en-US" dirty="0">
                <a:solidFill>
                  <a:schemeClr val="tx1"/>
                </a:solidFill>
                <a:latin typeface="Helios Extended Bold"/>
                <a:ea typeface="Helios Extended Bold"/>
                <a:cs typeface="Helios Extended Bold"/>
                <a:sym typeface="Helios Extended Bold"/>
              </a:rPr>
              <a:t>			</a:t>
            </a:r>
            <a:br>
              <a:rPr lang="en-US" dirty="0">
                <a:solidFill>
                  <a:schemeClr val="tx1"/>
                </a:solidFill>
                <a:latin typeface="Helios Extended Bold"/>
                <a:ea typeface="Helios Extended Bold"/>
                <a:cs typeface="Helios Extended Bold"/>
                <a:sym typeface="Helios Extended Bold"/>
              </a:rPr>
            </a:br>
            <a:r>
              <a:rPr lang="en-US" dirty="0">
                <a:solidFill>
                  <a:schemeClr val="tx1"/>
                </a:solidFill>
                <a:latin typeface="Helios Extended Bold"/>
                <a:ea typeface="Helios Extended Bold"/>
                <a:cs typeface="Helios Extended Bold"/>
                <a:sym typeface="Helios Extended Bold"/>
              </a:rPr>
              <a:t>			 </a:t>
            </a:r>
            <a:r>
              <a:rPr lang="en-US" sz="2000" b="0" dirty="0">
                <a:solidFill>
                  <a:schemeClr val="tx1"/>
                </a:solidFill>
                <a:latin typeface="Times New Roman" panose="02020603050405020304" pitchFamily="18" charset="0"/>
                <a:ea typeface="Montserrat"/>
                <a:cs typeface="Times New Roman" panose="02020603050405020304" pitchFamily="18" charset="0"/>
                <a:sym typeface="Montserrat"/>
              </a:rPr>
              <a:t>Milestone: 2</a:t>
            </a:r>
            <a:br>
              <a:rPr lang="en-US" sz="2000" b="0" dirty="0">
                <a:solidFill>
                  <a:schemeClr val="tx1"/>
                </a:solidFill>
                <a:latin typeface="Times New Roman" panose="02020603050405020304" pitchFamily="18" charset="0"/>
                <a:ea typeface="Montserrat"/>
                <a:cs typeface="Times New Roman" panose="02020603050405020304" pitchFamily="18" charset="0"/>
                <a:sym typeface="Montserrat"/>
              </a:rPr>
            </a:br>
            <a:r>
              <a:rPr lang="en-US" sz="2000" b="0" dirty="0">
                <a:solidFill>
                  <a:schemeClr val="tx1"/>
                </a:solidFill>
                <a:latin typeface="Times New Roman" panose="02020603050405020304" pitchFamily="18" charset="0"/>
                <a:ea typeface="Montserrat"/>
                <a:cs typeface="Times New Roman" panose="02020603050405020304" pitchFamily="18" charset="0"/>
                <a:sym typeface="Montserrat"/>
              </a:rPr>
              <a:t>				</a:t>
            </a:r>
            <a:r>
              <a:rPr lang="en-IN" sz="2000" b="0" dirty="0">
                <a:solidFill>
                  <a:schemeClr val="tx1"/>
                </a:solidFill>
                <a:latin typeface="Times New Roman" panose="02020603050405020304" pitchFamily="18" charset="0"/>
                <a:cs typeface="Times New Roman" panose="02020603050405020304" pitchFamily="18" charset="0"/>
              </a:rPr>
              <a:t>Medical Imaging Enhancement</a:t>
            </a:r>
            <a:br>
              <a:rPr lang="en-IN" sz="2000" b="0" dirty="0">
                <a:solidFill>
                  <a:schemeClr val="tx1"/>
                </a:solidFill>
                <a:latin typeface="Times New Roman" panose="02020603050405020304" pitchFamily="18" charset="0"/>
                <a:cs typeface="Times New Roman" panose="02020603050405020304" pitchFamily="18" charset="0"/>
              </a:rPr>
            </a:br>
            <a:br>
              <a:rPr lang="en-IN" sz="2000" b="0" dirty="0">
                <a:solidFill>
                  <a:schemeClr val="tx1"/>
                </a:solidFill>
                <a:latin typeface="Times New Roman" panose="02020603050405020304" pitchFamily="18" charset="0"/>
                <a:cs typeface="Times New Roman" panose="02020603050405020304" pitchFamily="18" charset="0"/>
              </a:rPr>
            </a:br>
            <a:r>
              <a:rPr lang="en-IN" sz="2000" b="0" dirty="0">
                <a:solidFill>
                  <a:schemeClr val="tx1"/>
                </a:solidFill>
                <a:latin typeface="Times New Roman" panose="02020603050405020304" pitchFamily="18" charset="0"/>
                <a:cs typeface="Times New Roman" panose="02020603050405020304" pitchFamily="18" charset="0"/>
              </a:rPr>
              <a:t>			 </a:t>
            </a:r>
            <a:r>
              <a:rPr lang="en-US" sz="2000" b="0" dirty="0">
                <a:solidFill>
                  <a:schemeClr val="tx1"/>
                </a:solidFill>
                <a:latin typeface="Times New Roman" panose="02020603050405020304" pitchFamily="18" charset="0"/>
                <a:ea typeface="Montserrat Medium"/>
                <a:cs typeface="Times New Roman" panose="02020603050405020304" pitchFamily="18" charset="0"/>
                <a:sym typeface="Montserrat Medium"/>
              </a:rPr>
              <a:t>Team Name: TEAM-B </a:t>
            </a:r>
            <a:br>
              <a:rPr lang="en-US" dirty="0">
                <a:solidFill>
                  <a:srgbClr val="004A55"/>
                </a:solidFill>
                <a:latin typeface="Montserrat Medium"/>
                <a:ea typeface="Montserrat Medium"/>
                <a:cs typeface="Montserrat Medium"/>
                <a:sym typeface="Montserrat Medium"/>
              </a:rPr>
            </a:br>
            <a:br>
              <a:rPr lang="en-US" dirty="0">
                <a:solidFill>
                  <a:schemeClr val="tx1"/>
                </a:solidFill>
                <a:latin typeface="Times New Roman" panose="02020603050405020304" pitchFamily="18" charset="0"/>
                <a:ea typeface="Montserrat Medium"/>
                <a:cs typeface="Times New Roman" panose="02020603050405020304" pitchFamily="18" charset="0"/>
                <a:sym typeface="Montserrat Medium"/>
              </a:rPr>
            </a:b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641684" y="-72736"/>
            <a:ext cx="6583680" cy="1531357"/>
          </a:xfrm>
        </p:spPr>
        <p:txBody>
          <a:bodyPr/>
          <a:lstStyle/>
          <a:p>
            <a:r>
              <a:rPr lang="en-US" dirty="0"/>
              <a:t>agenda</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641684" y="1825328"/>
            <a:ext cx="6583680" cy="3207344"/>
          </a:xfrm>
        </p:spPr>
        <p:txBody>
          <a:bodyPr>
            <a:noAutofit/>
          </a:bodyPr>
          <a:lstStyle/>
          <a:p>
            <a:r>
              <a:rPr lang="en-IN" dirty="0"/>
              <a:t>1. Use GenAI to enhance image quality and support diagnosis</a:t>
            </a:r>
          </a:p>
          <a:p>
            <a:r>
              <a:rPr lang="en-IN" dirty="0"/>
              <a:t>2. Apply GenAI for denoising and realistic reconstruction of medical images</a:t>
            </a:r>
            <a:br>
              <a:rPr lang="en-IN" dirty="0"/>
            </a:br>
            <a:r>
              <a:rPr lang="en-IN" dirty="0"/>
              <a:t>3. Support better visualization for clinicians by improving image resolution and clarity</a:t>
            </a:r>
            <a:br>
              <a:rPr lang="en-IN" dirty="0"/>
            </a:br>
            <a:r>
              <a:rPr lang="en-IN" dirty="0"/>
              <a:t>4. Train image enhancement models using Azure OpenAI tools</a:t>
            </a:r>
          </a:p>
          <a:p>
            <a:br>
              <a:rPr lang="en-IN" dirty="0"/>
            </a:br>
            <a:endParaRPr lang="en-IN" dirty="0"/>
          </a:p>
          <a:p>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1026695" y="334297"/>
            <a:ext cx="10399332" cy="5466430"/>
          </a:xfrm>
        </p:spPr>
        <p:txBody>
          <a:bodyPr/>
          <a:lstStyle/>
          <a:p>
            <a:r>
              <a:rPr lang="en-US" b="0" cap="none" dirty="0">
                <a:latin typeface="Times New Roman" panose="02020603050405020304" pitchFamily="18" charset="0"/>
                <a:cs typeface="Times New Roman" panose="02020603050405020304" pitchFamily="18" charset="0"/>
              </a:rPr>
              <a:t>		</a:t>
            </a:r>
            <a:br>
              <a:rPr lang="en-US" b="0" cap="none" dirty="0">
                <a:latin typeface="Times New Roman" panose="02020603050405020304" pitchFamily="18" charset="0"/>
                <a:cs typeface="Times New Roman" panose="02020603050405020304" pitchFamily="18" charset="0"/>
              </a:rPr>
            </a:br>
            <a:r>
              <a:rPr lang="en-US" b="0" cap="none" dirty="0">
                <a:latin typeface="Times New Roman" panose="02020603050405020304" pitchFamily="18" charset="0"/>
                <a:cs typeface="Times New Roman" panose="02020603050405020304" pitchFamily="18" charset="0"/>
              </a:rPr>
              <a:t>		</a:t>
            </a:r>
            <a:r>
              <a:rPr lang="en-US" sz="4000" cap="none" dirty="0">
                <a:latin typeface="Times New Roman" panose="02020603050405020304" pitchFamily="18" charset="0"/>
                <a:cs typeface="Times New Roman" panose="02020603050405020304" pitchFamily="18" charset="0"/>
              </a:rPr>
              <a:t>PROBLEM STATEMENT</a:t>
            </a:r>
            <a:br>
              <a:rPr lang="en-US" sz="4000" cap="none" dirty="0">
                <a:latin typeface="Times New Roman" panose="02020603050405020304" pitchFamily="18" charset="0"/>
                <a:cs typeface="Times New Roman" panose="02020603050405020304" pitchFamily="18" charset="0"/>
              </a:rPr>
            </a:br>
            <a:br>
              <a:rPr lang="en-US" b="0" cap="none" dirty="0">
                <a:latin typeface="Times New Roman" panose="02020603050405020304" pitchFamily="18" charset="0"/>
                <a:cs typeface="Times New Roman" panose="02020603050405020304" pitchFamily="18" charset="0"/>
              </a:rPr>
            </a:br>
            <a:r>
              <a:rPr lang="en-US" b="0" cap="none" dirty="0">
                <a:latin typeface="Times New Roman" panose="02020603050405020304" pitchFamily="18" charset="0"/>
                <a:cs typeface="Times New Roman" panose="02020603050405020304" pitchFamily="18" charset="0"/>
              </a:rPr>
              <a:t>	Many EHR images suffer from low resolution, noise, and poor visual quality, which can lead to reduced diagnostic accuracy and unreliable AI model training. These image limitations make it difficult for clinical systems to extract accurate information and for AI models to learn effectively from medical data.</a:t>
            </a:r>
            <a:br>
              <a:rPr lang="en-US" b="0" cap="none" dirty="0">
                <a:latin typeface="Times New Roman" panose="02020603050405020304" pitchFamily="18" charset="0"/>
                <a:cs typeface="Times New Roman" panose="02020603050405020304" pitchFamily="18" charset="0"/>
              </a:rPr>
            </a:br>
            <a:r>
              <a:rPr lang="en-US" b="0" cap="none"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2983832" y="-263720"/>
            <a:ext cx="8297815" cy="1441838"/>
          </a:xfrm>
        </p:spPr>
        <p:txBody>
          <a:bodyPr/>
          <a:lstStyle/>
          <a:p>
            <a:r>
              <a:rPr lang="en-IN" dirty="0"/>
              <a:t>Proposed Solution / Architecture Overview</a:t>
            </a:r>
            <a:endParaRPr lang="en-US" dirty="0"/>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2751652" y="1474657"/>
            <a:ext cx="9208168" cy="4380950"/>
          </a:xfrm>
        </p:spPr>
        <p:txBody>
          <a:bodyPr>
            <a:noAutofit/>
          </a:bodyPr>
          <a:lstStyle/>
          <a:p>
            <a:r>
              <a:rPr lang="en-US" sz="2800" dirty="0"/>
              <a:t>Our proposed system enhances medical imaging quality using AI-powered super-resolution techniques to improve diagnostic accuracy and clarity.</a:t>
            </a:r>
          </a:p>
          <a:p>
            <a:r>
              <a:rPr lang="en-US" sz="2800" dirty="0"/>
              <a:t>The workflow begins by accessing preprocessed medical images from Milestone 1 and loading their corresponding metadata for traceability.</a:t>
            </a:r>
          </a:p>
          <a:p>
            <a:r>
              <a:rPr lang="en-US" sz="2800" dirty="0"/>
              <a:t>These images are then passed through the </a:t>
            </a:r>
            <a:r>
              <a:rPr lang="en-US" sz="2800" b="1" dirty="0"/>
              <a:t>Real-ESRGAN model</a:t>
            </a:r>
            <a:r>
              <a:rPr lang="en-US" sz="2800" dirty="0"/>
              <a:t>, which intelligently restores details, removes blur and noise, and produces high-resolution versions.</a:t>
            </a:r>
          </a:p>
          <a:p>
            <a:r>
              <a:rPr lang="en-US" sz="2800" dirty="0"/>
              <a:t>Finally, enhanced images are stored in structured folders for further analysis and evaluation.</a:t>
            </a:r>
          </a:p>
        </p:txBody>
      </p:sp>
    </p:spTree>
    <p:extLst>
      <p:ext uri="{BB962C8B-B14F-4D97-AF65-F5344CB8AC3E}">
        <p14:creationId xmlns:p14="http://schemas.microsoft.com/office/powerpoint/2010/main" val="685681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3888634" y="-802910"/>
            <a:ext cx="7043617" cy="2520217"/>
          </a:xfrm>
        </p:spPr>
        <p:txBody>
          <a:bodyPr/>
          <a:lstStyle/>
          <a:p>
            <a:r>
              <a:rPr lang="en-IN" dirty="0"/>
              <a:t>TOOLS &amp; TECHNOLOGIES USED</a:t>
            </a:r>
            <a:br>
              <a:rPr lang="en-IN" dirty="0"/>
            </a:br>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3705726" y="1540844"/>
            <a:ext cx="8196476" cy="4324676"/>
          </a:xfrm>
        </p:spPr>
        <p:txBody>
          <a:bodyPr>
            <a:noAutofit/>
          </a:bodyPr>
          <a:lstStyle/>
          <a:p>
            <a:r>
              <a:rPr lang="en-IN" b="1" dirty="0"/>
              <a:t>1. Python</a:t>
            </a:r>
            <a:r>
              <a:rPr lang="en-IN" dirty="0"/>
              <a:t> : Core programming language for implementation 	      and automation.</a:t>
            </a:r>
          </a:p>
          <a:p>
            <a:r>
              <a:rPr lang="en-IN" b="1" dirty="0"/>
              <a:t>2. Google Colab</a:t>
            </a:r>
            <a:r>
              <a:rPr lang="en-IN" dirty="0"/>
              <a:t> : Cloud-based environment for running and       	      testing models efficiently.</a:t>
            </a:r>
          </a:p>
          <a:p>
            <a:r>
              <a:rPr lang="en-IN" b="1" dirty="0"/>
              <a:t>3. </a:t>
            </a:r>
            <a:r>
              <a:rPr lang="en-IN" b="1" dirty="0" err="1"/>
              <a:t>PyTorch</a:t>
            </a:r>
            <a:r>
              <a:rPr lang="en-IN" dirty="0"/>
              <a:t> : Deep learning framework used to support the 	       Real-ESRGAN model.</a:t>
            </a:r>
          </a:p>
          <a:p>
            <a:r>
              <a:rPr lang="en-IN" b="1" dirty="0"/>
              <a:t>4. Real-ESRGAN</a:t>
            </a:r>
            <a:r>
              <a:rPr lang="en-IN" dirty="0"/>
              <a:t> : AI-based super-resolution model used for 	        enhancing X-ray image quality.</a:t>
            </a:r>
          </a:p>
          <a:p>
            <a:r>
              <a:rPr lang="en-IN" b="1" dirty="0"/>
              <a:t>5. OpenCV</a:t>
            </a:r>
            <a:r>
              <a:rPr lang="en-IN" dirty="0"/>
              <a:t> : Used for image loading, manipulation, and  	         visualization.</a:t>
            </a:r>
          </a:p>
          <a:p>
            <a:r>
              <a:rPr lang="en-IN" b="1" dirty="0"/>
              <a:t>6. PIL (Python Imaging Library)</a:t>
            </a:r>
            <a:r>
              <a:rPr lang="en-IN" dirty="0"/>
              <a:t> : For image conversion and 	         preprocessing tasks.</a:t>
            </a:r>
          </a:p>
          <a:p>
            <a:r>
              <a:rPr lang="en-IN" b="1" dirty="0"/>
              <a:t>7. Matplotlib</a:t>
            </a:r>
            <a:r>
              <a:rPr lang="en-IN" dirty="0"/>
              <a:t> : For displaying image outputs and comparison 	         visuals.</a:t>
            </a:r>
          </a:p>
          <a:p>
            <a:endParaRPr lang="en-US" dirty="0"/>
          </a:p>
        </p:txBody>
      </p:sp>
    </p:spTree>
    <p:extLst>
      <p:ext uri="{BB962C8B-B14F-4D97-AF65-F5344CB8AC3E}">
        <p14:creationId xmlns:p14="http://schemas.microsoft.com/office/powerpoint/2010/main" val="1131718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CFB6C2-93A3-58D9-03CE-4332D009EB04}"/>
              </a:ext>
            </a:extLst>
          </p:cNvPr>
          <p:cNvSpPr>
            <a:spLocks noGrp="1"/>
          </p:cNvSpPr>
          <p:nvPr>
            <p:ph type="title"/>
          </p:nvPr>
        </p:nvSpPr>
        <p:spPr>
          <a:xfrm>
            <a:off x="176462" y="-387750"/>
            <a:ext cx="8999621" cy="1222385"/>
          </a:xfrm>
        </p:spPr>
        <p:txBody>
          <a:bodyPr/>
          <a:lstStyle/>
          <a:p>
            <a:r>
              <a:rPr lang="en-IN" dirty="0"/>
              <a:t>implementation   PROGRESS</a:t>
            </a:r>
          </a:p>
        </p:txBody>
      </p:sp>
      <p:pic>
        <p:nvPicPr>
          <p:cNvPr id="11" name="Content Placeholder 10">
            <a:extLst>
              <a:ext uri="{FF2B5EF4-FFF2-40B4-BE49-F238E27FC236}">
                <a16:creationId xmlns:a16="http://schemas.microsoft.com/office/drawing/2014/main" id="{65659D4E-F1E4-D02D-5D7A-DEEFDA7EF992}"/>
              </a:ext>
            </a:extLst>
          </p:cNvPr>
          <p:cNvPicPr>
            <a:picLocks noGrp="1" noChangeAspect="1"/>
          </p:cNvPicPr>
          <p:nvPr>
            <p:ph sz="half" idx="2"/>
          </p:nvPr>
        </p:nvPicPr>
        <p:blipFill>
          <a:blip r:embed="rId3"/>
          <a:stretch>
            <a:fillRect/>
          </a:stretch>
        </p:blipFill>
        <p:spPr>
          <a:xfrm>
            <a:off x="-401052" y="1347537"/>
            <a:ext cx="9914020" cy="5751095"/>
          </a:xfrm>
        </p:spPr>
      </p:pic>
    </p:spTree>
    <p:extLst>
      <p:ext uri="{BB962C8B-B14F-4D97-AF65-F5344CB8AC3E}">
        <p14:creationId xmlns:p14="http://schemas.microsoft.com/office/powerpoint/2010/main" val="2468595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914400" y="965393"/>
            <a:ext cx="7631709" cy="1091627"/>
          </a:xfrm>
        </p:spPr>
        <p:txBody>
          <a:bodyPr/>
          <a:lstStyle/>
          <a:p>
            <a:r>
              <a:rPr lang="en-IN" dirty="0"/>
              <a:t>TECHNICAL CHALLENGES &amp; SOLUTIONS</a:t>
            </a:r>
            <a:endParaRPr lang="en-US" dirty="0"/>
          </a:p>
        </p:txBody>
      </p:sp>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609600" y="2303463"/>
            <a:ext cx="3587750" cy="4143375"/>
          </a:xfrm>
        </p:spPr>
        <p:txBody>
          <a:bodyPr>
            <a:noAutofit/>
          </a:bodyPr>
          <a:lstStyle/>
          <a:p>
            <a:r>
              <a:rPr lang="en-US" sz="2200" b="1" dirty="0" err="1"/>
              <a:t>basicsr</a:t>
            </a:r>
            <a:r>
              <a:rPr lang="en-US" sz="2200" b="1" dirty="0"/>
              <a:t> + NumPy 2.0 crash</a:t>
            </a:r>
            <a:br>
              <a:rPr lang="en-US" sz="2200" dirty="0"/>
            </a:br>
            <a:r>
              <a:rPr lang="en-US" sz="2200" dirty="0"/>
              <a:t>The incompatibility between the </a:t>
            </a:r>
            <a:r>
              <a:rPr lang="en-US" sz="2200" dirty="0" err="1"/>
              <a:t>basicsr</a:t>
            </a:r>
            <a:r>
              <a:rPr lang="en-US" sz="2200" dirty="0"/>
              <a:t> library and NumPy 2.0 caused frequent runtime errors.</a:t>
            </a:r>
            <a:br>
              <a:rPr lang="en-US" sz="2200" dirty="0"/>
            </a:br>
            <a:r>
              <a:rPr lang="en-US" sz="2200" dirty="0"/>
              <a:t>To resolve this, we manually rebuilt the </a:t>
            </a:r>
            <a:r>
              <a:rPr lang="en-US" sz="2200" dirty="0" err="1"/>
              <a:t>RRDBNet</a:t>
            </a:r>
            <a:r>
              <a:rPr lang="en-US" sz="2200" dirty="0"/>
              <a:t> architecture entirely in </a:t>
            </a:r>
            <a:r>
              <a:rPr lang="en-US" sz="2200" b="1" dirty="0"/>
              <a:t>pure </a:t>
            </a:r>
            <a:r>
              <a:rPr lang="en-US" sz="2200" b="1" dirty="0" err="1"/>
              <a:t>PyTorch</a:t>
            </a:r>
            <a:r>
              <a:rPr lang="en-US" sz="2200" dirty="0"/>
              <a:t>, ensuring stable execution.</a:t>
            </a:r>
          </a:p>
        </p:txBody>
      </p:sp>
      <p:sp>
        <p:nvSpPr>
          <p:cNvPr id="13" name="Content Placeholder 5">
            <a:extLst>
              <a:ext uri="{FF2B5EF4-FFF2-40B4-BE49-F238E27FC236}">
                <a16:creationId xmlns:a16="http://schemas.microsoft.com/office/drawing/2014/main" id="{58AC0C8B-8A7A-9FAE-2D0F-4D1C3A8C3FA5}"/>
              </a:ext>
            </a:extLst>
          </p:cNvPr>
          <p:cNvSpPr>
            <a:spLocks noGrp="1"/>
          </p:cNvSpPr>
          <p:nvPr>
            <p:ph sz="half" idx="1"/>
          </p:nvPr>
        </p:nvSpPr>
        <p:spPr>
          <a:xfrm>
            <a:off x="4781550" y="2303463"/>
            <a:ext cx="3961397" cy="4143375"/>
          </a:xfrm>
        </p:spPr>
        <p:txBody>
          <a:bodyPr>
            <a:normAutofit/>
          </a:bodyPr>
          <a:lstStyle/>
          <a:p>
            <a:r>
              <a:rPr lang="en-US" sz="2200" b="1" dirty="0"/>
              <a:t>2. </a:t>
            </a:r>
            <a:r>
              <a:rPr lang="en-US" sz="2200" b="1" dirty="0" err="1"/>
              <a:t>params_ema</a:t>
            </a:r>
            <a:r>
              <a:rPr lang="en-US" sz="2200" b="1" dirty="0"/>
              <a:t> key error in .</a:t>
            </a:r>
            <a:r>
              <a:rPr lang="en-US" sz="2200" b="1" dirty="0" err="1"/>
              <a:t>pth</a:t>
            </a:r>
            <a:br>
              <a:rPr lang="en-US" sz="2200" dirty="0"/>
            </a:br>
            <a:r>
              <a:rPr lang="en-US" sz="2200" dirty="0"/>
              <a:t>Loading pretrained ESRGAN weights raised a missing key error for </a:t>
            </a:r>
            <a:r>
              <a:rPr lang="en-US" sz="2200" dirty="0" err="1"/>
              <a:t>params_ema</a:t>
            </a:r>
            <a:r>
              <a:rPr lang="en-US" sz="2200" dirty="0"/>
              <a:t>.</a:t>
            </a:r>
            <a:br>
              <a:rPr lang="en-US" sz="2200" dirty="0"/>
            </a:br>
            <a:r>
              <a:rPr lang="en-US" sz="2200" dirty="0"/>
              <a:t>We fixed this by explicitly extracting weights using </a:t>
            </a:r>
            <a:r>
              <a:rPr lang="en-US" sz="2200" dirty="0" err="1"/>
              <a:t>torch.load</a:t>
            </a:r>
            <a:r>
              <a:rPr lang="en-US" sz="2200" dirty="0"/>
              <a:t>(...)[‘</a:t>
            </a:r>
            <a:r>
              <a:rPr lang="en-US" sz="2200" dirty="0" err="1"/>
              <a:t>params_ema</a:t>
            </a:r>
            <a:r>
              <a:rPr lang="en-US" sz="2200" dirty="0"/>
              <a:t>’], restoring correct model initialization.</a:t>
            </a:r>
          </a:p>
          <a:p>
            <a:endParaRPr lang="en-US" sz="2200" dirty="0"/>
          </a:p>
        </p:txBody>
      </p:sp>
    </p:spTree>
    <p:extLst>
      <p:ext uri="{BB962C8B-B14F-4D97-AF65-F5344CB8AC3E}">
        <p14:creationId xmlns:p14="http://schemas.microsoft.com/office/powerpoint/2010/main" val="1941619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444019" y="-117932"/>
            <a:ext cx="7843837" cy="1012782"/>
          </a:xfrm>
        </p:spPr>
        <p:txBody>
          <a:bodyPr/>
          <a:lstStyle/>
          <a:p>
            <a:r>
              <a:rPr lang="en-IN" dirty="0"/>
              <a:t>LEARNINGS &amp; SOLUTIONS</a:t>
            </a:r>
            <a:endParaRPr lang="en-US" dirty="0"/>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914399" y="1409777"/>
            <a:ext cx="8149389" cy="4942897"/>
          </a:xfrm>
        </p:spPr>
        <p:txBody>
          <a:bodyPr>
            <a:noAutofit/>
          </a:bodyPr>
          <a:lstStyle/>
          <a:p>
            <a:pPr marL="457200" indent="-457200">
              <a:buAutoNum type="arabicPeriod"/>
            </a:pPr>
            <a:r>
              <a:rPr lang="en-US" sz="2600" b="1" dirty="0"/>
              <a:t>Handling Model &amp; Library Conflicts:</a:t>
            </a:r>
          </a:p>
          <a:p>
            <a:br>
              <a:rPr lang="en-US" sz="2600" dirty="0"/>
            </a:br>
            <a:r>
              <a:rPr lang="en-US" sz="2600" dirty="0"/>
              <a:t>	Resolved compatibility issues between </a:t>
            </a:r>
            <a:r>
              <a:rPr lang="en-US" sz="2600" b="1" dirty="0"/>
              <a:t>NumPy 2.0</a:t>
            </a:r>
            <a:r>
              <a:rPr lang="en-US" sz="2600" dirty="0"/>
              <a:t> and </a:t>
            </a:r>
            <a:r>
              <a:rPr lang="en-US" sz="2600" b="1" dirty="0" err="1"/>
              <a:t>basicsr</a:t>
            </a:r>
            <a:r>
              <a:rPr lang="en-US" sz="2600" dirty="0"/>
              <a:t> by rebuilding </a:t>
            </a:r>
            <a:r>
              <a:rPr lang="en-US" sz="2600" b="1" dirty="0" err="1"/>
              <a:t>RRDBNet</a:t>
            </a:r>
            <a:r>
              <a:rPr lang="en-US" sz="2600" dirty="0"/>
              <a:t> directly in </a:t>
            </a:r>
            <a:r>
              <a:rPr lang="en-US" sz="2600" dirty="0" err="1"/>
              <a:t>PyTorch</a:t>
            </a:r>
            <a:r>
              <a:rPr lang="en-US" sz="2600" dirty="0"/>
              <a:t>.</a:t>
            </a:r>
            <a:br>
              <a:rPr lang="en-US" sz="2600" dirty="0"/>
            </a:br>
            <a:r>
              <a:rPr lang="en-US" sz="2600" dirty="0"/>
              <a:t>This improved control over the enhancement pipeline and ensured stable execution.</a:t>
            </a:r>
          </a:p>
          <a:p>
            <a:endParaRPr lang="en-US" sz="2600" dirty="0"/>
          </a:p>
          <a:p>
            <a:pPr marL="457200" indent="-457200">
              <a:buAutoNum type="arabicPeriod" startAt="2"/>
            </a:pPr>
            <a:r>
              <a:rPr lang="en-US" sz="2600" b="1" dirty="0"/>
              <a:t>Mastery of Super-Resolution Techniques: </a:t>
            </a:r>
          </a:p>
          <a:p>
            <a:br>
              <a:rPr lang="en-US" sz="2600" dirty="0"/>
            </a:br>
            <a:r>
              <a:rPr lang="en-US" sz="2600" dirty="0"/>
              <a:t>       Gained deeper understanding of </a:t>
            </a:r>
            <a:r>
              <a:rPr lang="en-US" sz="2600" b="1" dirty="0"/>
              <a:t>Real-ESRGAN x4</a:t>
            </a:r>
            <a:r>
              <a:rPr lang="en-US" sz="2600" dirty="0"/>
              <a:t>               architecture and its role in enhancing low-quality EHR  images.</a:t>
            </a:r>
            <a:br>
              <a:rPr lang="en-US" sz="2600" dirty="0"/>
            </a:br>
            <a:r>
              <a:rPr lang="en-US" sz="2600" dirty="0"/>
              <a:t>        </a:t>
            </a:r>
          </a:p>
        </p:txBody>
      </p:sp>
    </p:spTree>
    <p:extLst>
      <p:ext uri="{BB962C8B-B14F-4D97-AF65-F5344CB8AC3E}">
        <p14:creationId xmlns:p14="http://schemas.microsoft.com/office/powerpoint/2010/main" val="4072101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25D08A0-54A4-3A80-F585-9E9A5DDB593A}"/>
              </a:ext>
            </a:extLst>
          </p:cNvPr>
          <p:cNvSpPr>
            <a:spLocks noGrp="1"/>
          </p:cNvSpPr>
          <p:nvPr>
            <p:ph type="title"/>
          </p:nvPr>
        </p:nvSpPr>
        <p:spPr>
          <a:xfrm>
            <a:off x="1550563" y="-176452"/>
            <a:ext cx="9879437" cy="980844"/>
          </a:xfrm>
        </p:spPr>
        <p:txBody>
          <a:bodyPr/>
          <a:lstStyle/>
          <a:p>
            <a:r>
              <a:rPr lang="en-IN" dirty="0"/>
              <a:t>results</a:t>
            </a:r>
          </a:p>
        </p:txBody>
      </p:sp>
      <p:pic>
        <p:nvPicPr>
          <p:cNvPr id="13" name="Content Placeholder 12">
            <a:extLst>
              <a:ext uri="{FF2B5EF4-FFF2-40B4-BE49-F238E27FC236}">
                <a16:creationId xmlns:a16="http://schemas.microsoft.com/office/drawing/2014/main" id="{4CA77250-84B6-2776-691A-4AB24D3F03FC}"/>
              </a:ext>
            </a:extLst>
          </p:cNvPr>
          <p:cNvPicPr>
            <a:picLocks noGrp="1" noChangeAspect="1"/>
          </p:cNvPicPr>
          <p:nvPr>
            <p:ph sz="half" idx="1"/>
          </p:nvPr>
        </p:nvPicPr>
        <p:blipFill>
          <a:blip r:embed="rId3"/>
          <a:stretch>
            <a:fillRect/>
          </a:stretch>
        </p:blipFill>
        <p:spPr>
          <a:xfrm>
            <a:off x="753979" y="930442"/>
            <a:ext cx="11261558" cy="5815263"/>
          </a:xfrm>
        </p:spPr>
      </p:pic>
    </p:spTree>
    <p:extLst>
      <p:ext uri="{BB962C8B-B14F-4D97-AF65-F5344CB8AC3E}">
        <p14:creationId xmlns:p14="http://schemas.microsoft.com/office/powerpoint/2010/main" val="3969996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1550564" y="503571"/>
            <a:ext cx="9875463" cy="999746"/>
          </a:xfrm>
        </p:spPr>
        <p:txBody>
          <a:bodyPr/>
          <a:lstStyle/>
          <a:p>
            <a:r>
              <a:rPr lang="en-US" dirty="0"/>
              <a:t>NEXT Steps</a:t>
            </a:r>
          </a:p>
        </p:txBody>
      </p:sp>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1422227" y="2406137"/>
            <a:ext cx="9614741" cy="4451863"/>
          </a:xfrm>
        </p:spPr>
        <p:txBody>
          <a:bodyPr>
            <a:noAutofit/>
          </a:bodyPr>
          <a:lstStyle/>
          <a:p>
            <a:r>
              <a:rPr lang="en-US" sz="2800" dirty="0"/>
              <a:t>With image enhancement completed, the next phase focuses on </a:t>
            </a:r>
            <a:r>
              <a:rPr lang="en-US" sz="2800" b="1" dirty="0"/>
              <a:t>automating clinical documentation and diagnosis coding</a:t>
            </a:r>
            <a:r>
              <a:rPr lang="en-US" sz="2800" dirty="0"/>
              <a:t> using </a:t>
            </a:r>
            <a:r>
              <a:rPr lang="en-US" sz="2800" b="1" dirty="0"/>
              <a:t>GenAI-driven clinical note generation</a:t>
            </a:r>
            <a:r>
              <a:rPr lang="en-US" sz="2800" dirty="0"/>
              <a:t> and </a:t>
            </a:r>
            <a:r>
              <a:rPr lang="en-US" sz="2800" b="1" dirty="0"/>
              <a:t>ICD-10 mapping.</a:t>
            </a:r>
            <a:endParaRPr lang="en-US" sz="2800" dirty="0"/>
          </a:p>
          <a:p>
            <a:endParaRPr lang="en-US" sz="2800" dirty="0"/>
          </a:p>
          <a:p>
            <a:r>
              <a:rPr lang="en-US" sz="2800" dirty="0"/>
              <a:t>Following this, we will </a:t>
            </a:r>
            <a:r>
              <a:rPr lang="en-US" sz="2800" b="1" dirty="0"/>
              <a:t>integrate and deploy</a:t>
            </a:r>
            <a:r>
              <a:rPr lang="en-US" sz="2800" dirty="0"/>
              <a:t> all modules into real-time hospital EHR systems, ensuring smooth interoperability and hands-on training for medical staff.</a:t>
            </a:r>
            <a:br>
              <a:rPr lang="en-US" sz="2800" dirty="0"/>
            </a:br>
            <a:endParaRPr lang="en-US" sz="2800" dirty="0"/>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endParaRPr lang="en-US" dirty="0"/>
          </a:p>
        </p:txBody>
      </p:sp>
    </p:spTree>
    <p:extLst>
      <p:ext uri="{BB962C8B-B14F-4D97-AF65-F5344CB8AC3E}">
        <p14:creationId xmlns:p14="http://schemas.microsoft.com/office/powerpoint/2010/main" val="2498021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786064" y="-1363855"/>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0" y="1845393"/>
            <a:ext cx="6416841" cy="4748463"/>
          </a:xfrm>
        </p:spPr>
        <p:txBody>
          <a:bodyPr>
            <a:normAutofit lnSpcReduction="10000"/>
          </a:bodyPr>
          <a:lstStyle/>
          <a:p>
            <a:r>
              <a:rPr lang="en-US" dirty="0"/>
              <a:t>Team B Members:   Pushpa Latha</a:t>
            </a:r>
          </a:p>
          <a:p>
            <a:r>
              <a:rPr lang="en-US" dirty="0"/>
              <a:t>                                 Nikshitha </a:t>
            </a:r>
            <a:r>
              <a:rPr lang="en-US" dirty="0" err="1"/>
              <a:t>Naradasu</a:t>
            </a:r>
            <a:endParaRPr lang="en-US" dirty="0"/>
          </a:p>
          <a:p>
            <a:r>
              <a:rPr lang="en-US" dirty="0"/>
              <a:t>                                 Shaik Afreen Hasen</a:t>
            </a:r>
          </a:p>
          <a:p>
            <a:r>
              <a:rPr lang="en-US" dirty="0"/>
              <a:t>                                 Saniha Manjunath</a:t>
            </a:r>
          </a:p>
          <a:p>
            <a:r>
              <a:rPr lang="en-US" dirty="0"/>
              <a:t>                                 Gaurav Subhash Borse</a:t>
            </a:r>
          </a:p>
          <a:p>
            <a:r>
              <a:rPr lang="en-US" dirty="0"/>
              <a:t>                                 Tejasri Nakka</a:t>
            </a:r>
          </a:p>
          <a:p>
            <a:r>
              <a:rPr lang="en-US" dirty="0"/>
              <a:t>                                 Deepana</a:t>
            </a:r>
          </a:p>
          <a:p>
            <a:r>
              <a:rPr lang="en-US" dirty="0"/>
              <a:t>                                 Pranjali Jadhav</a:t>
            </a:r>
          </a:p>
          <a:p>
            <a:r>
              <a:rPr lang="en-US" dirty="0"/>
              <a:t>                                 Vignesh M J</a:t>
            </a:r>
          </a:p>
          <a:p>
            <a:r>
              <a:rPr lang="en-US" dirty="0"/>
              <a:t>                                Priyanshi</a:t>
            </a:r>
          </a:p>
          <a:p>
            <a:r>
              <a:rPr lang="en-US" dirty="0"/>
              <a:t>                                Sanjana</a:t>
            </a:r>
          </a:p>
          <a:p>
            <a:endParaRPr lang="en-US" dirty="0"/>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{EC073829-1F34-4881-AEE2-7B33D2488C20}tf78438558_win32</Template>
  <TotalTime>59</TotalTime>
  <Words>608</Words>
  <Application>Microsoft Office PowerPoint</Application>
  <PresentationFormat>Widescreen</PresentationFormat>
  <Paragraphs>46</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Arial Black</vt:lpstr>
      <vt:lpstr>Calibri</vt:lpstr>
      <vt:lpstr>Helios Extended Bold</vt:lpstr>
      <vt:lpstr>Montserrat Medium</vt:lpstr>
      <vt:lpstr>Sabon Next LT</vt:lpstr>
      <vt:lpstr>Times New Roman</vt:lpstr>
      <vt:lpstr>Custom</vt:lpstr>
      <vt:lpstr>      AI-Powered-Enhanced EHR Imaging &amp;              Documentation System          Milestone: 2     Medical Imaging Enhancement      Team Name: TEAM-B   </vt:lpstr>
      <vt:lpstr>agenda</vt:lpstr>
      <vt:lpstr>     PROBLEM STATEMENT   Many EHR images suffer from low resolution, noise, and poor visual quality, which can lead to reduced diagnostic accuracy and unreliable AI model training. These image limitations make it difficult for clinical systems to extract accurate information and for AI models to learn effectively from medical data.  </vt:lpstr>
      <vt:lpstr>Proposed Solution / Architecture Overview</vt:lpstr>
      <vt:lpstr>TOOLS &amp; TECHNOLOGIES USED </vt:lpstr>
      <vt:lpstr>implementation   PROGRESS</vt:lpstr>
      <vt:lpstr>TECHNICAL CHALLENGES &amp; SOLUTIONS</vt:lpstr>
      <vt:lpstr>LEARNINGS &amp; SOLUTIONS</vt:lpstr>
      <vt:lpstr>results</vt:lpstr>
      <vt:lpstr>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saniha manjunath</dc:creator>
  <cp:lastModifiedBy>saniha manjunath</cp:lastModifiedBy>
  <cp:revision>3</cp:revision>
  <dcterms:created xsi:type="dcterms:W3CDTF">2025-11-11T11:56:54Z</dcterms:created>
  <dcterms:modified xsi:type="dcterms:W3CDTF">2025-11-11T13:24:21Z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